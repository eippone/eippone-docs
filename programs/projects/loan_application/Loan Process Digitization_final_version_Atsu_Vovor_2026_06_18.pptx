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5" r:id="rId2"/>
    <p:sldId id="266" r:id="rId3"/>
    <p:sldId id="259" r:id="rId4"/>
    <p:sldId id="264" r:id="rId5"/>
    <p:sldId id="263" r:id="rId6"/>
    <p:sldId id="271" r:id="rId7"/>
    <p:sldId id="267" r:id="rId8"/>
    <p:sldId id="273" r:id="rId9"/>
    <p:sldId id="276" r:id="rId10"/>
    <p:sldId id="279" r:id="rId11"/>
    <p:sldId id="268" r:id="rId12"/>
    <p:sldId id="278" r:id="rId13"/>
    <p:sldId id="275" r:id="rId14"/>
    <p:sldId id="277" r:id="rId15"/>
    <p:sldId id="270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C781"/>
    <a:srgbClr val="73D98B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su Vovor" userId="303267695d5488ee" providerId="LiveId" clId="{A97B8117-09F1-4764-866A-0A4DF345E20E}"/>
    <pc:docChg chg="modSld">
      <pc:chgData name="Atsu Vovor" userId="303267695d5488ee" providerId="LiveId" clId="{A97B8117-09F1-4764-866A-0A4DF345E20E}" dt="2026-06-20T03:53:26.365" v="10" actId="14734"/>
      <pc:docMkLst>
        <pc:docMk/>
      </pc:docMkLst>
      <pc:sldChg chg="modSp mod">
        <pc:chgData name="Atsu Vovor" userId="303267695d5488ee" providerId="LiveId" clId="{A97B8117-09F1-4764-866A-0A4DF345E20E}" dt="2026-06-20T03:53:26.365" v="10" actId="14734"/>
        <pc:sldMkLst>
          <pc:docMk/>
          <pc:sldMk cId="1774450789" sldId="264"/>
        </pc:sldMkLst>
        <pc:graphicFrameChg chg="modGraphic">
          <ac:chgData name="Atsu Vovor" userId="303267695d5488ee" providerId="LiveId" clId="{A97B8117-09F1-4764-866A-0A4DF345E20E}" dt="2026-06-20T03:53:26.365" v="10" actId="14734"/>
          <ac:graphicFrameMkLst>
            <pc:docMk/>
            <pc:sldMk cId="1774450789" sldId="264"/>
            <ac:graphicFrameMk id="3" creationId="{3E5FADCB-994A-1E79-8651-AC430AF94BC3}"/>
          </ac:graphicFrameMkLst>
        </pc:graphicFrameChg>
      </pc:sldChg>
      <pc:sldChg chg="modSp mod">
        <pc:chgData name="Atsu Vovor" userId="303267695d5488ee" providerId="LiveId" clId="{A97B8117-09F1-4764-866A-0A4DF345E20E}" dt="2026-06-19T23:45:54.711" v="9" actId="20577"/>
        <pc:sldMkLst>
          <pc:docMk/>
          <pc:sldMk cId="1345309784" sldId="265"/>
        </pc:sldMkLst>
        <pc:spChg chg="mod">
          <ac:chgData name="Atsu Vovor" userId="303267695d5488ee" providerId="LiveId" clId="{A97B8117-09F1-4764-866A-0A4DF345E20E}" dt="2026-06-19T23:45:54.711" v="9" actId="20577"/>
          <ac:spMkLst>
            <pc:docMk/>
            <pc:sldMk cId="1345309784" sldId="265"/>
            <ac:spMk id="27" creationId="{F4D4B377-A777-D916-2D2D-79409618C037}"/>
          </ac:spMkLst>
        </pc:spChg>
      </pc:sldChg>
      <pc:sldChg chg="modSp mod">
        <pc:chgData name="Atsu Vovor" userId="303267695d5488ee" providerId="LiveId" clId="{A97B8117-09F1-4764-866A-0A4DF345E20E}" dt="2026-06-19T15:44:19.284" v="7" actId="14100"/>
        <pc:sldMkLst>
          <pc:docMk/>
          <pc:sldMk cId="2944709557" sldId="276"/>
        </pc:sldMkLst>
        <pc:spChg chg="mod">
          <ac:chgData name="Atsu Vovor" userId="303267695d5488ee" providerId="LiveId" clId="{A97B8117-09F1-4764-866A-0A4DF345E20E}" dt="2026-06-19T15:44:19.284" v="7" actId="14100"/>
          <ac:spMkLst>
            <pc:docMk/>
            <pc:sldMk cId="2944709557" sldId="276"/>
            <ac:spMk id="2" creationId="{DEDD0768-70BD-9D84-4790-CC1514AA57CC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DE808E-CDA7-4B46-8FD2-C5A7AB7AA71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05153C-67BA-4D59-B098-BE6074EA7A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ntake &amp; Validation (Power Apps)</a:t>
          </a:r>
          <a:endParaRPr lang="en-US" sz="1600"/>
        </a:p>
      </dgm:t>
    </dgm:pt>
    <dgm:pt modelId="{8D6251A0-7BA5-45F5-B77C-25DBA592D480}" type="parTrans" cxnId="{F1C98F53-3533-420A-997F-BE8F15C252AC}">
      <dgm:prSet/>
      <dgm:spPr/>
      <dgm:t>
        <a:bodyPr/>
        <a:lstStyle/>
        <a:p>
          <a:endParaRPr lang="en-US" sz="1600"/>
        </a:p>
      </dgm:t>
    </dgm:pt>
    <dgm:pt modelId="{A3DC4811-8B37-444B-8815-A478A6442DF2}" type="sibTrans" cxnId="{F1C98F53-3533-420A-997F-BE8F15C252AC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9134E594-0CF3-42F3-BAD9-79C53712D16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0" i="0" baseline="0"/>
            <a:t>I will build a </a:t>
          </a:r>
          <a:r>
            <a:rPr lang="en-US" sz="1600" b="1" i="0" baseline="0"/>
            <a:t>Canvas App</a:t>
          </a:r>
          <a:r>
            <a:rPr lang="en-US" sz="1600" b="0" i="0" baseline="0"/>
            <a:t> for mobile and tablet use by customers.</a:t>
          </a:r>
          <a:endParaRPr lang="en-US" sz="1600"/>
        </a:p>
      </dgm:t>
    </dgm:pt>
    <dgm:pt modelId="{8E539D2E-3282-435A-BF34-2447191B3384}" type="parTrans" cxnId="{9F98A924-3917-4519-B447-026D73986E2A}">
      <dgm:prSet/>
      <dgm:spPr/>
      <dgm:t>
        <a:bodyPr/>
        <a:lstStyle/>
        <a:p>
          <a:endParaRPr lang="en-US" sz="1600"/>
        </a:p>
      </dgm:t>
    </dgm:pt>
    <dgm:pt modelId="{C9EEE63B-2880-4B17-B213-00ACDA55128A}" type="sibTrans" cxnId="{9F98A924-3917-4519-B447-026D73986E2A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89AC57EF-43B9-4340-B6DE-32DA7F1964D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Form Design:</a:t>
          </a:r>
          <a:r>
            <a:rPr lang="en-US" sz="1600" b="0" i="0" baseline="0"/>
            <a:t> Includes fields for Personal Details, Loan Amount (e.g., $50,000), and a Loan Term dropdown.</a:t>
          </a:r>
          <a:endParaRPr lang="en-US" sz="1600"/>
        </a:p>
      </dgm:t>
    </dgm:pt>
    <dgm:pt modelId="{958C0B04-34C1-4FED-8C03-2EA927839FF0}" type="parTrans" cxnId="{12AEE6FB-3A5E-470F-97A1-215741A74CD0}">
      <dgm:prSet/>
      <dgm:spPr/>
      <dgm:t>
        <a:bodyPr/>
        <a:lstStyle/>
        <a:p>
          <a:endParaRPr lang="en-US" sz="1600"/>
        </a:p>
      </dgm:t>
    </dgm:pt>
    <dgm:pt modelId="{E818B9D4-B6EA-4856-81A8-728842F67DF7}" type="sibTrans" cxnId="{12AEE6FB-3A5E-470F-97A1-215741A74CD0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64B41514-21C4-4D11-83F3-8BF5528EA3B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Validation:</a:t>
          </a:r>
          <a:r>
            <a:rPr lang="en-US" sz="1600" b="0" i="0" baseline="0"/>
            <a:t> Logic added to the "Submit" button: If(IsBlank(DataCardValue), DisplayError).</a:t>
          </a:r>
          <a:endParaRPr lang="en-US" sz="1600"/>
        </a:p>
      </dgm:t>
    </dgm:pt>
    <dgm:pt modelId="{641DE20C-9D8B-48F3-9E9D-3B2D9C90F0A0}" type="parTrans" cxnId="{31F1A8C3-C87A-426D-AE76-C740D3BBF969}">
      <dgm:prSet/>
      <dgm:spPr/>
      <dgm:t>
        <a:bodyPr/>
        <a:lstStyle/>
        <a:p>
          <a:endParaRPr lang="en-US" sz="1600"/>
        </a:p>
      </dgm:t>
    </dgm:pt>
    <dgm:pt modelId="{F2358EC8-9352-4153-924E-792536D0D386}" type="sibTrans" cxnId="{31F1A8C3-C87A-426D-AE76-C740D3BBF969}">
      <dgm:prSet/>
      <dgm:spPr/>
      <dgm:t>
        <a:bodyPr/>
        <a:lstStyle/>
        <a:p>
          <a:pPr>
            <a:lnSpc>
              <a:spcPct val="100000"/>
            </a:lnSpc>
          </a:pPr>
          <a:endParaRPr lang="en-US" sz="1600"/>
        </a:p>
      </dgm:t>
    </dgm:pt>
    <dgm:pt modelId="{E0428676-B77B-4913-B564-F9302342FB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i="0" baseline="0"/>
            <a:t>Attachments:</a:t>
          </a:r>
          <a:r>
            <a:rPr lang="en-US" sz="1600" b="0" i="0" baseline="0"/>
            <a:t> An "Add Attachment" control specifically mapped to "ID" and "Proof of Income" requirements.</a:t>
          </a:r>
          <a:endParaRPr lang="en-US" sz="1600"/>
        </a:p>
      </dgm:t>
    </dgm:pt>
    <dgm:pt modelId="{9A692AB6-C828-42B2-8C9C-5BD425C89F14}" type="parTrans" cxnId="{BCB459FA-DA92-4510-98F1-7731DD553426}">
      <dgm:prSet/>
      <dgm:spPr/>
      <dgm:t>
        <a:bodyPr/>
        <a:lstStyle/>
        <a:p>
          <a:endParaRPr lang="en-US" sz="1600"/>
        </a:p>
      </dgm:t>
    </dgm:pt>
    <dgm:pt modelId="{8A29B20B-6CE8-470D-B35E-286A206272A3}" type="sibTrans" cxnId="{BCB459FA-DA92-4510-98F1-7731DD553426}">
      <dgm:prSet/>
      <dgm:spPr/>
      <dgm:t>
        <a:bodyPr/>
        <a:lstStyle/>
        <a:p>
          <a:endParaRPr lang="en-US" sz="1600"/>
        </a:p>
      </dgm:t>
    </dgm:pt>
    <dgm:pt modelId="{72B96C36-6648-4C7B-BB07-E4345125F400}" type="pres">
      <dgm:prSet presAssocID="{0FDE808E-CDA7-4B46-8FD2-C5A7AB7AA71E}" presName="root" presStyleCnt="0">
        <dgm:presLayoutVars>
          <dgm:dir/>
          <dgm:resizeHandles val="exact"/>
        </dgm:presLayoutVars>
      </dgm:prSet>
      <dgm:spPr/>
    </dgm:pt>
    <dgm:pt modelId="{C309136D-AFEF-4473-B1F9-9E784E095A22}" type="pres">
      <dgm:prSet presAssocID="{0FDE808E-CDA7-4B46-8FD2-C5A7AB7AA71E}" presName="container" presStyleCnt="0">
        <dgm:presLayoutVars>
          <dgm:dir/>
          <dgm:resizeHandles val="exact"/>
        </dgm:presLayoutVars>
      </dgm:prSet>
      <dgm:spPr/>
    </dgm:pt>
    <dgm:pt modelId="{7BCA7034-7772-4589-8BC5-CEC4272976E8}" type="pres">
      <dgm:prSet presAssocID="{3E05153C-67BA-4D59-B098-BE6074EA7ACE}" presName="compNode" presStyleCnt="0"/>
      <dgm:spPr/>
    </dgm:pt>
    <dgm:pt modelId="{D5190EF5-4D8D-4607-807D-C023A43ACF52}" type="pres">
      <dgm:prSet presAssocID="{3E05153C-67BA-4D59-B098-BE6074EA7ACE}" presName="iconBgRect" presStyleLbl="bgShp" presStyleIdx="0" presStyleCnt="5"/>
      <dgm:spPr/>
    </dgm:pt>
    <dgm:pt modelId="{3FA45A8C-9A42-42B6-A4E9-E187687A6853}" type="pres">
      <dgm:prSet presAssocID="{3E05153C-67BA-4D59-B098-BE6074EA7AC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2E6D5D4-EC57-4F33-A456-859C31AF61D6}" type="pres">
      <dgm:prSet presAssocID="{3E05153C-67BA-4D59-B098-BE6074EA7ACE}" presName="spaceRect" presStyleCnt="0"/>
      <dgm:spPr/>
    </dgm:pt>
    <dgm:pt modelId="{E0790A3A-4CD0-4882-9254-9EEA80A2B7D7}" type="pres">
      <dgm:prSet presAssocID="{3E05153C-67BA-4D59-B098-BE6074EA7ACE}" presName="textRect" presStyleLbl="revTx" presStyleIdx="0" presStyleCnt="5">
        <dgm:presLayoutVars>
          <dgm:chMax val="1"/>
          <dgm:chPref val="1"/>
        </dgm:presLayoutVars>
      </dgm:prSet>
      <dgm:spPr/>
    </dgm:pt>
    <dgm:pt modelId="{D366FBB3-BD89-4BD3-876A-FAAB30430857}" type="pres">
      <dgm:prSet presAssocID="{A3DC4811-8B37-444B-8815-A478A6442DF2}" presName="sibTrans" presStyleLbl="sibTrans2D1" presStyleIdx="0" presStyleCnt="0"/>
      <dgm:spPr/>
    </dgm:pt>
    <dgm:pt modelId="{AC8ABF45-2283-49B4-A501-0D89B590FF48}" type="pres">
      <dgm:prSet presAssocID="{9134E594-0CF3-42F3-BAD9-79C53712D16E}" presName="compNode" presStyleCnt="0"/>
      <dgm:spPr/>
    </dgm:pt>
    <dgm:pt modelId="{31D895A0-B11D-4219-B1AA-08283F98E4EC}" type="pres">
      <dgm:prSet presAssocID="{9134E594-0CF3-42F3-BAD9-79C53712D16E}" presName="iconBgRect" presStyleLbl="bgShp" presStyleIdx="1" presStyleCnt="5"/>
      <dgm:spPr/>
    </dgm:pt>
    <dgm:pt modelId="{CCBBBC85-F878-47C4-B6C4-2DABECDCA670}" type="pres">
      <dgm:prSet presAssocID="{9134E594-0CF3-42F3-BAD9-79C53712D16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EA34AE7E-B8AC-4709-9D88-8C7C02F3C591}" type="pres">
      <dgm:prSet presAssocID="{9134E594-0CF3-42F3-BAD9-79C53712D16E}" presName="spaceRect" presStyleCnt="0"/>
      <dgm:spPr/>
    </dgm:pt>
    <dgm:pt modelId="{27C892A6-99E4-48B4-AB10-1843E89EEB26}" type="pres">
      <dgm:prSet presAssocID="{9134E594-0CF3-42F3-BAD9-79C53712D16E}" presName="textRect" presStyleLbl="revTx" presStyleIdx="1" presStyleCnt="5">
        <dgm:presLayoutVars>
          <dgm:chMax val="1"/>
          <dgm:chPref val="1"/>
        </dgm:presLayoutVars>
      </dgm:prSet>
      <dgm:spPr/>
    </dgm:pt>
    <dgm:pt modelId="{D03E9BCF-CA21-484E-8DA1-0F2E6CE71444}" type="pres">
      <dgm:prSet presAssocID="{C9EEE63B-2880-4B17-B213-00ACDA55128A}" presName="sibTrans" presStyleLbl="sibTrans2D1" presStyleIdx="0" presStyleCnt="0"/>
      <dgm:spPr/>
    </dgm:pt>
    <dgm:pt modelId="{0843318E-C8E7-40D2-910C-E162596272D7}" type="pres">
      <dgm:prSet presAssocID="{89AC57EF-43B9-4340-B6DE-32DA7F1964D8}" presName="compNode" presStyleCnt="0"/>
      <dgm:spPr/>
    </dgm:pt>
    <dgm:pt modelId="{45B665BF-5CAF-4ECE-9230-DAAA765D02CF}" type="pres">
      <dgm:prSet presAssocID="{89AC57EF-43B9-4340-B6DE-32DA7F1964D8}" presName="iconBgRect" presStyleLbl="bgShp" presStyleIdx="2" presStyleCnt="5"/>
      <dgm:spPr/>
    </dgm:pt>
    <dgm:pt modelId="{50406D72-9ED6-4411-9958-B35EC0A1072E}" type="pres">
      <dgm:prSet presAssocID="{89AC57EF-43B9-4340-B6DE-32DA7F1964D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80C2D5A9-7F7E-4784-AA88-CC90456E7578}" type="pres">
      <dgm:prSet presAssocID="{89AC57EF-43B9-4340-B6DE-32DA7F1964D8}" presName="spaceRect" presStyleCnt="0"/>
      <dgm:spPr/>
    </dgm:pt>
    <dgm:pt modelId="{629A3BF4-C2A4-4374-9030-B7194AB3B846}" type="pres">
      <dgm:prSet presAssocID="{89AC57EF-43B9-4340-B6DE-32DA7F1964D8}" presName="textRect" presStyleLbl="revTx" presStyleIdx="2" presStyleCnt="5">
        <dgm:presLayoutVars>
          <dgm:chMax val="1"/>
          <dgm:chPref val="1"/>
        </dgm:presLayoutVars>
      </dgm:prSet>
      <dgm:spPr/>
    </dgm:pt>
    <dgm:pt modelId="{9B823D84-9C07-423E-9E22-F22720291CA9}" type="pres">
      <dgm:prSet presAssocID="{E818B9D4-B6EA-4856-81A8-728842F67DF7}" presName="sibTrans" presStyleLbl="sibTrans2D1" presStyleIdx="0" presStyleCnt="0"/>
      <dgm:spPr/>
    </dgm:pt>
    <dgm:pt modelId="{7C3637C0-0CD5-4933-8948-A99A807D91D0}" type="pres">
      <dgm:prSet presAssocID="{64B41514-21C4-4D11-83F3-8BF5528EA3B2}" presName="compNode" presStyleCnt="0"/>
      <dgm:spPr/>
    </dgm:pt>
    <dgm:pt modelId="{E29CA23F-E44F-48DC-80C4-261BE95BF2BF}" type="pres">
      <dgm:prSet presAssocID="{64B41514-21C4-4D11-83F3-8BF5528EA3B2}" presName="iconBgRect" presStyleLbl="bgShp" presStyleIdx="3" presStyleCnt="5"/>
      <dgm:spPr/>
    </dgm:pt>
    <dgm:pt modelId="{E0BC575B-841B-418C-8007-78E061107449}" type="pres">
      <dgm:prSet presAssocID="{64B41514-21C4-4D11-83F3-8BF5528EA3B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15101EE0-8CC5-4A99-A99C-863497920C2B}" type="pres">
      <dgm:prSet presAssocID="{64B41514-21C4-4D11-83F3-8BF5528EA3B2}" presName="spaceRect" presStyleCnt="0"/>
      <dgm:spPr/>
    </dgm:pt>
    <dgm:pt modelId="{CC98857D-35D3-406A-A7DB-510578D26F98}" type="pres">
      <dgm:prSet presAssocID="{64B41514-21C4-4D11-83F3-8BF5528EA3B2}" presName="textRect" presStyleLbl="revTx" presStyleIdx="3" presStyleCnt="5">
        <dgm:presLayoutVars>
          <dgm:chMax val="1"/>
          <dgm:chPref val="1"/>
        </dgm:presLayoutVars>
      </dgm:prSet>
      <dgm:spPr/>
    </dgm:pt>
    <dgm:pt modelId="{D172D548-92A4-46C9-9884-ECD47DB3694C}" type="pres">
      <dgm:prSet presAssocID="{F2358EC8-9352-4153-924E-792536D0D386}" presName="sibTrans" presStyleLbl="sibTrans2D1" presStyleIdx="0" presStyleCnt="0"/>
      <dgm:spPr/>
    </dgm:pt>
    <dgm:pt modelId="{3122258F-9253-4CE4-A635-661F4A0A23F5}" type="pres">
      <dgm:prSet presAssocID="{E0428676-B77B-4913-B564-F9302342FB1C}" presName="compNode" presStyleCnt="0"/>
      <dgm:spPr/>
    </dgm:pt>
    <dgm:pt modelId="{98E73DD4-F063-4F3D-B623-CEFB8D6B5B6B}" type="pres">
      <dgm:prSet presAssocID="{E0428676-B77B-4913-B564-F9302342FB1C}" presName="iconBgRect" presStyleLbl="bgShp" presStyleIdx="4" presStyleCnt="5"/>
      <dgm:spPr/>
    </dgm:pt>
    <dgm:pt modelId="{18991B58-EF9A-45ED-BC0A-701F84EAA083}" type="pres">
      <dgm:prSet presAssocID="{E0428676-B77B-4913-B564-F9302342FB1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42969326-DEC9-4257-BEA9-5D3129054913}" type="pres">
      <dgm:prSet presAssocID="{E0428676-B77B-4913-B564-F9302342FB1C}" presName="spaceRect" presStyleCnt="0"/>
      <dgm:spPr/>
    </dgm:pt>
    <dgm:pt modelId="{F01E33C9-A7F7-4667-A78F-52C340D6F0BA}" type="pres">
      <dgm:prSet presAssocID="{E0428676-B77B-4913-B564-F9302342FB1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69CAD05-1A53-451B-B7BE-C3F942F7E6A0}" type="presOf" srcId="{F2358EC8-9352-4153-924E-792536D0D386}" destId="{D172D548-92A4-46C9-9884-ECD47DB3694C}" srcOrd="0" destOrd="0" presId="urn:microsoft.com/office/officeart/2018/2/layout/IconCircleList"/>
    <dgm:cxn modelId="{82F7D70F-461E-4A15-9675-03B5DFE32583}" type="presOf" srcId="{E818B9D4-B6EA-4856-81A8-728842F67DF7}" destId="{9B823D84-9C07-423E-9E22-F22720291CA9}" srcOrd="0" destOrd="0" presId="urn:microsoft.com/office/officeart/2018/2/layout/IconCircleList"/>
    <dgm:cxn modelId="{9F98A924-3917-4519-B447-026D73986E2A}" srcId="{0FDE808E-CDA7-4B46-8FD2-C5A7AB7AA71E}" destId="{9134E594-0CF3-42F3-BAD9-79C53712D16E}" srcOrd="1" destOrd="0" parTransId="{8E539D2E-3282-435A-BF34-2447191B3384}" sibTransId="{C9EEE63B-2880-4B17-B213-00ACDA55128A}"/>
    <dgm:cxn modelId="{82E3732C-34A8-4881-8E08-6218522E5961}" type="presOf" srcId="{E0428676-B77B-4913-B564-F9302342FB1C}" destId="{F01E33C9-A7F7-4667-A78F-52C340D6F0BA}" srcOrd="0" destOrd="0" presId="urn:microsoft.com/office/officeart/2018/2/layout/IconCircleList"/>
    <dgm:cxn modelId="{7600FA38-0335-4B58-9CED-D755641EDBC1}" type="presOf" srcId="{3E05153C-67BA-4D59-B098-BE6074EA7ACE}" destId="{E0790A3A-4CD0-4882-9254-9EEA80A2B7D7}" srcOrd="0" destOrd="0" presId="urn:microsoft.com/office/officeart/2018/2/layout/IconCircleList"/>
    <dgm:cxn modelId="{FB74A63C-10D1-483C-B97F-26AA6C86334B}" type="presOf" srcId="{0FDE808E-CDA7-4B46-8FD2-C5A7AB7AA71E}" destId="{72B96C36-6648-4C7B-BB07-E4345125F400}" srcOrd="0" destOrd="0" presId="urn:microsoft.com/office/officeart/2018/2/layout/IconCircleList"/>
    <dgm:cxn modelId="{B32CB03D-2F93-4AFF-BA89-43723A0430C5}" type="presOf" srcId="{A3DC4811-8B37-444B-8815-A478A6442DF2}" destId="{D366FBB3-BD89-4BD3-876A-FAAB30430857}" srcOrd="0" destOrd="0" presId="urn:microsoft.com/office/officeart/2018/2/layout/IconCircleList"/>
    <dgm:cxn modelId="{52BF7446-DC60-4E55-88EA-E74A8A8C863D}" type="presOf" srcId="{89AC57EF-43B9-4340-B6DE-32DA7F1964D8}" destId="{629A3BF4-C2A4-4374-9030-B7194AB3B846}" srcOrd="0" destOrd="0" presId="urn:microsoft.com/office/officeart/2018/2/layout/IconCircleList"/>
    <dgm:cxn modelId="{F1C98F53-3533-420A-997F-BE8F15C252AC}" srcId="{0FDE808E-CDA7-4B46-8FD2-C5A7AB7AA71E}" destId="{3E05153C-67BA-4D59-B098-BE6074EA7ACE}" srcOrd="0" destOrd="0" parTransId="{8D6251A0-7BA5-45F5-B77C-25DBA592D480}" sibTransId="{A3DC4811-8B37-444B-8815-A478A6442DF2}"/>
    <dgm:cxn modelId="{D97EE8A3-C75F-477A-96AE-FF284D155D57}" type="presOf" srcId="{C9EEE63B-2880-4B17-B213-00ACDA55128A}" destId="{D03E9BCF-CA21-484E-8DA1-0F2E6CE71444}" srcOrd="0" destOrd="0" presId="urn:microsoft.com/office/officeart/2018/2/layout/IconCircleList"/>
    <dgm:cxn modelId="{31F1A8C3-C87A-426D-AE76-C740D3BBF969}" srcId="{0FDE808E-CDA7-4B46-8FD2-C5A7AB7AA71E}" destId="{64B41514-21C4-4D11-83F3-8BF5528EA3B2}" srcOrd="3" destOrd="0" parTransId="{641DE20C-9D8B-48F3-9E9D-3B2D9C90F0A0}" sibTransId="{F2358EC8-9352-4153-924E-792536D0D386}"/>
    <dgm:cxn modelId="{4D59F5CB-A791-4A0E-90A9-3BE86BA57BB3}" type="presOf" srcId="{64B41514-21C4-4D11-83F3-8BF5528EA3B2}" destId="{CC98857D-35D3-406A-A7DB-510578D26F98}" srcOrd="0" destOrd="0" presId="urn:microsoft.com/office/officeart/2018/2/layout/IconCircleList"/>
    <dgm:cxn modelId="{266231E4-24AB-412C-8B56-F1997069A3A1}" type="presOf" srcId="{9134E594-0CF3-42F3-BAD9-79C53712D16E}" destId="{27C892A6-99E4-48B4-AB10-1843E89EEB26}" srcOrd="0" destOrd="0" presId="urn:microsoft.com/office/officeart/2018/2/layout/IconCircleList"/>
    <dgm:cxn modelId="{BCB459FA-DA92-4510-98F1-7731DD553426}" srcId="{0FDE808E-CDA7-4B46-8FD2-C5A7AB7AA71E}" destId="{E0428676-B77B-4913-B564-F9302342FB1C}" srcOrd="4" destOrd="0" parTransId="{9A692AB6-C828-42B2-8C9C-5BD425C89F14}" sibTransId="{8A29B20B-6CE8-470D-B35E-286A206272A3}"/>
    <dgm:cxn modelId="{12AEE6FB-3A5E-470F-97A1-215741A74CD0}" srcId="{0FDE808E-CDA7-4B46-8FD2-C5A7AB7AA71E}" destId="{89AC57EF-43B9-4340-B6DE-32DA7F1964D8}" srcOrd="2" destOrd="0" parTransId="{958C0B04-34C1-4FED-8C03-2EA927839FF0}" sibTransId="{E818B9D4-B6EA-4856-81A8-728842F67DF7}"/>
    <dgm:cxn modelId="{86D9904D-5ED5-402B-BD40-D096146923D4}" type="presParOf" srcId="{72B96C36-6648-4C7B-BB07-E4345125F400}" destId="{C309136D-AFEF-4473-B1F9-9E784E095A22}" srcOrd="0" destOrd="0" presId="urn:microsoft.com/office/officeart/2018/2/layout/IconCircleList"/>
    <dgm:cxn modelId="{3946467B-EB9F-480D-AC95-63D8D5432A7C}" type="presParOf" srcId="{C309136D-AFEF-4473-B1F9-9E784E095A22}" destId="{7BCA7034-7772-4589-8BC5-CEC4272976E8}" srcOrd="0" destOrd="0" presId="urn:microsoft.com/office/officeart/2018/2/layout/IconCircleList"/>
    <dgm:cxn modelId="{FC4AB13E-3322-45D5-83B0-3FD5772941CF}" type="presParOf" srcId="{7BCA7034-7772-4589-8BC5-CEC4272976E8}" destId="{D5190EF5-4D8D-4607-807D-C023A43ACF52}" srcOrd="0" destOrd="0" presId="urn:microsoft.com/office/officeart/2018/2/layout/IconCircleList"/>
    <dgm:cxn modelId="{C0C5A4AF-4A04-4D3A-91F7-CFA309F0AC99}" type="presParOf" srcId="{7BCA7034-7772-4589-8BC5-CEC4272976E8}" destId="{3FA45A8C-9A42-42B6-A4E9-E187687A6853}" srcOrd="1" destOrd="0" presId="urn:microsoft.com/office/officeart/2018/2/layout/IconCircleList"/>
    <dgm:cxn modelId="{0CC3445C-67C3-4A11-A078-E15D5657BD5B}" type="presParOf" srcId="{7BCA7034-7772-4589-8BC5-CEC4272976E8}" destId="{42E6D5D4-EC57-4F33-A456-859C31AF61D6}" srcOrd="2" destOrd="0" presId="urn:microsoft.com/office/officeart/2018/2/layout/IconCircleList"/>
    <dgm:cxn modelId="{A6B1A0F2-D2A1-4C65-841F-5EB77C79DCB2}" type="presParOf" srcId="{7BCA7034-7772-4589-8BC5-CEC4272976E8}" destId="{E0790A3A-4CD0-4882-9254-9EEA80A2B7D7}" srcOrd="3" destOrd="0" presId="urn:microsoft.com/office/officeart/2018/2/layout/IconCircleList"/>
    <dgm:cxn modelId="{390F5527-42F0-427E-B9A6-084025C4F0E1}" type="presParOf" srcId="{C309136D-AFEF-4473-B1F9-9E784E095A22}" destId="{D366FBB3-BD89-4BD3-876A-FAAB30430857}" srcOrd="1" destOrd="0" presId="urn:microsoft.com/office/officeart/2018/2/layout/IconCircleList"/>
    <dgm:cxn modelId="{3766A353-A360-463C-A136-E015318F75B2}" type="presParOf" srcId="{C309136D-AFEF-4473-B1F9-9E784E095A22}" destId="{AC8ABF45-2283-49B4-A501-0D89B590FF48}" srcOrd="2" destOrd="0" presId="urn:microsoft.com/office/officeart/2018/2/layout/IconCircleList"/>
    <dgm:cxn modelId="{0386C5BF-33BF-41E4-9184-82972D9037DD}" type="presParOf" srcId="{AC8ABF45-2283-49B4-A501-0D89B590FF48}" destId="{31D895A0-B11D-4219-B1AA-08283F98E4EC}" srcOrd="0" destOrd="0" presId="urn:microsoft.com/office/officeart/2018/2/layout/IconCircleList"/>
    <dgm:cxn modelId="{5E35571D-1941-4D22-ACFD-E0F52075966B}" type="presParOf" srcId="{AC8ABF45-2283-49B4-A501-0D89B590FF48}" destId="{CCBBBC85-F878-47C4-B6C4-2DABECDCA670}" srcOrd="1" destOrd="0" presId="urn:microsoft.com/office/officeart/2018/2/layout/IconCircleList"/>
    <dgm:cxn modelId="{82EB6887-5A92-4269-9DF6-1DB1771801F9}" type="presParOf" srcId="{AC8ABF45-2283-49B4-A501-0D89B590FF48}" destId="{EA34AE7E-B8AC-4709-9D88-8C7C02F3C591}" srcOrd="2" destOrd="0" presId="urn:microsoft.com/office/officeart/2018/2/layout/IconCircleList"/>
    <dgm:cxn modelId="{A0222322-FE70-4B9E-A163-0AE83999B021}" type="presParOf" srcId="{AC8ABF45-2283-49B4-A501-0D89B590FF48}" destId="{27C892A6-99E4-48B4-AB10-1843E89EEB26}" srcOrd="3" destOrd="0" presId="urn:microsoft.com/office/officeart/2018/2/layout/IconCircleList"/>
    <dgm:cxn modelId="{6DA40EAC-672C-4B7E-9E10-BE1D9FFCDECA}" type="presParOf" srcId="{C309136D-AFEF-4473-B1F9-9E784E095A22}" destId="{D03E9BCF-CA21-484E-8DA1-0F2E6CE71444}" srcOrd="3" destOrd="0" presId="urn:microsoft.com/office/officeart/2018/2/layout/IconCircleList"/>
    <dgm:cxn modelId="{63F97022-475F-4207-AE08-EF4FF8756F23}" type="presParOf" srcId="{C309136D-AFEF-4473-B1F9-9E784E095A22}" destId="{0843318E-C8E7-40D2-910C-E162596272D7}" srcOrd="4" destOrd="0" presId="urn:microsoft.com/office/officeart/2018/2/layout/IconCircleList"/>
    <dgm:cxn modelId="{EEA636DE-9BB1-4C38-8419-D9A977E7883A}" type="presParOf" srcId="{0843318E-C8E7-40D2-910C-E162596272D7}" destId="{45B665BF-5CAF-4ECE-9230-DAAA765D02CF}" srcOrd="0" destOrd="0" presId="urn:microsoft.com/office/officeart/2018/2/layout/IconCircleList"/>
    <dgm:cxn modelId="{D225A414-7A8F-41E0-8AB9-D54DA689EB95}" type="presParOf" srcId="{0843318E-C8E7-40D2-910C-E162596272D7}" destId="{50406D72-9ED6-4411-9958-B35EC0A1072E}" srcOrd="1" destOrd="0" presId="urn:microsoft.com/office/officeart/2018/2/layout/IconCircleList"/>
    <dgm:cxn modelId="{D4465869-56E3-4AFC-8A68-54B978CB192A}" type="presParOf" srcId="{0843318E-C8E7-40D2-910C-E162596272D7}" destId="{80C2D5A9-7F7E-4784-AA88-CC90456E7578}" srcOrd="2" destOrd="0" presId="urn:microsoft.com/office/officeart/2018/2/layout/IconCircleList"/>
    <dgm:cxn modelId="{0CBE1865-55FB-42C9-B784-3423B4CADC66}" type="presParOf" srcId="{0843318E-C8E7-40D2-910C-E162596272D7}" destId="{629A3BF4-C2A4-4374-9030-B7194AB3B846}" srcOrd="3" destOrd="0" presId="urn:microsoft.com/office/officeart/2018/2/layout/IconCircleList"/>
    <dgm:cxn modelId="{AC6E9B77-94F4-404E-B784-28CC588E38E1}" type="presParOf" srcId="{C309136D-AFEF-4473-B1F9-9E784E095A22}" destId="{9B823D84-9C07-423E-9E22-F22720291CA9}" srcOrd="5" destOrd="0" presId="urn:microsoft.com/office/officeart/2018/2/layout/IconCircleList"/>
    <dgm:cxn modelId="{27294CB1-F8F4-4004-92F1-8C2227667B3E}" type="presParOf" srcId="{C309136D-AFEF-4473-B1F9-9E784E095A22}" destId="{7C3637C0-0CD5-4933-8948-A99A807D91D0}" srcOrd="6" destOrd="0" presId="urn:microsoft.com/office/officeart/2018/2/layout/IconCircleList"/>
    <dgm:cxn modelId="{2D8D5772-E32C-47BC-BFBA-03048C8773CA}" type="presParOf" srcId="{7C3637C0-0CD5-4933-8948-A99A807D91D0}" destId="{E29CA23F-E44F-48DC-80C4-261BE95BF2BF}" srcOrd="0" destOrd="0" presId="urn:microsoft.com/office/officeart/2018/2/layout/IconCircleList"/>
    <dgm:cxn modelId="{6BF4DC35-ACAF-4983-874B-A8693DCC8C6A}" type="presParOf" srcId="{7C3637C0-0CD5-4933-8948-A99A807D91D0}" destId="{E0BC575B-841B-418C-8007-78E061107449}" srcOrd="1" destOrd="0" presId="urn:microsoft.com/office/officeart/2018/2/layout/IconCircleList"/>
    <dgm:cxn modelId="{A3CF131C-CB6B-4E00-B355-8130ED14889D}" type="presParOf" srcId="{7C3637C0-0CD5-4933-8948-A99A807D91D0}" destId="{15101EE0-8CC5-4A99-A99C-863497920C2B}" srcOrd="2" destOrd="0" presId="urn:microsoft.com/office/officeart/2018/2/layout/IconCircleList"/>
    <dgm:cxn modelId="{BC592D28-8D88-4D75-BC7B-1A48CFB39B56}" type="presParOf" srcId="{7C3637C0-0CD5-4933-8948-A99A807D91D0}" destId="{CC98857D-35D3-406A-A7DB-510578D26F98}" srcOrd="3" destOrd="0" presId="urn:microsoft.com/office/officeart/2018/2/layout/IconCircleList"/>
    <dgm:cxn modelId="{BEA9C5BB-2F51-439F-B7C6-B12DF70D2709}" type="presParOf" srcId="{C309136D-AFEF-4473-B1F9-9E784E095A22}" destId="{D172D548-92A4-46C9-9884-ECD47DB3694C}" srcOrd="7" destOrd="0" presId="urn:microsoft.com/office/officeart/2018/2/layout/IconCircleList"/>
    <dgm:cxn modelId="{6C4C6F07-420D-4142-B3E4-F0DC63085035}" type="presParOf" srcId="{C309136D-AFEF-4473-B1F9-9E784E095A22}" destId="{3122258F-9253-4CE4-A635-661F4A0A23F5}" srcOrd="8" destOrd="0" presId="urn:microsoft.com/office/officeart/2018/2/layout/IconCircleList"/>
    <dgm:cxn modelId="{93AEA337-0CEF-4128-A3D2-88A5CFD4AEBF}" type="presParOf" srcId="{3122258F-9253-4CE4-A635-661F4A0A23F5}" destId="{98E73DD4-F063-4F3D-B623-CEFB8D6B5B6B}" srcOrd="0" destOrd="0" presId="urn:microsoft.com/office/officeart/2018/2/layout/IconCircleList"/>
    <dgm:cxn modelId="{1622D7C6-30BB-4D23-975E-0C4C97EE9F3B}" type="presParOf" srcId="{3122258F-9253-4CE4-A635-661F4A0A23F5}" destId="{18991B58-EF9A-45ED-BC0A-701F84EAA083}" srcOrd="1" destOrd="0" presId="urn:microsoft.com/office/officeart/2018/2/layout/IconCircleList"/>
    <dgm:cxn modelId="{F7A9DEA1-CF07-4456-A46C-5D0944EF7AE5}" type="presParOf" srcId="{3122258F-9253-4CE4-A635-661F4A0A23F5}" destId="{42969326-DEC9-4257-BEA9-5D3129054913}" srcOrd="2" destOrd="0" presId="urn:microsoft.com/office/officeart/2018/2/layout/IconCircleList"/>
    <dgm:cxn modelId="{52087E70-9A15-4152-86CA-12B4BF88A63F}" type="presParOf" srcId="{3122258F-9253-4CE4-A635-661F4A0A23F5}" destId="{F01E33C9-A7F7-4667-A78F-52C340D6F0B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0C1374-4353-4415-9EAB-E855D3A3FB8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E286E18E-9AFE-41ED-B144-AE2836AB8A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Step C: Employee Review Portal (Power Pages)</a:t>
          </a:r>
          <a:endParaRPr lang="en-US"/>
        </a:p>
      </dgm:t>
    </dgm:pt>
    <dgm:pt modelId="{3AE863DB-A9B6-49B6-8CFE-0F0005D32449}" type="parTrans" cxnId="{0DC3FF7B-55CC-4B46-8215-A7B870CDDB30}">
      <dgm:prSet/>
      <dgm:spPr/>
      <dgm:t>
        <a:bodyPr/>
        <a:lstStyle/>
        <a:p>
          <a:endParaRPr lang="en-US"/>
        </a:p>
      </dgm:t>
    </dgm:pt>
    <dgm:pt modelId="{74836550-77FA-40C3-AA42-333A3C76A815}" type="sibTrans" cxnId="{0DC3FF7B-55CC-4B46-8215-A7B870CDDB3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FB55A8-353C-495E-A4D4-08B09347E8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secure </a:t>
          </a:r>
          <a:r>
            <a:rPr lang="en-US" b="1" i="0" baseline="0"/>
            <a:t>Power Pages Portal</a:t>
          </a:r>
          <a:r>
            <a:rPr lang="en-US" b="0" i="0" baseline="0"/>
            <a:t> will be created for bank employees:</a:t>
          </a:r>
          <a:endParaRPr lang="en-US"/>
        </a:p>
      </dgm:t>
    </dgm:pt>
    <dgm:pt modelId="{72433B15-8BE9-4D1C-B2FA-26F67857E3AD}" type="parTrans" cxnId="{50630572-4D9B-438F-AE6E-93A97E59B182}">
      <dgm:prSet/>
      <dgm:spPr/>
      <dgm:t>
        <a:bodyPr/>
        <a:lstStyle/>
        <a:p>
          <a:endParaRPr lang="en-US"/>
        </a:p>
      </dgm:t>
    </dgm:pt>
    <dgm:pt modelId="{70AD2E34-8447-479D-A4AB-563FD6D3D6DE}" type="sibTrans" cxnId="{50630572-4D9B-438F-AE6E-93A97E59B18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FBB3FF-772E-4A0E-8C0C-D496124A1F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Queue Management:</a:t>
          </a:r>
          <a:r>
            <a:rPr lang="en-US" b="0" i="0" baseline="0"/>
            <a:t> Employees can filter by "Submitted" or "Under Review" status.</a:t>
          </a:r>
          <a:endParaRPr lang="en-US"/>
        </a:p>
      </dgm:t>
    </dgm:pt>
    <dgm:pt modelId="{3DB0EE9A-00E6-4F0A-B90B-2212E5230B5A}" type="parTrans" cxnId="{4B70103C-0203-4924-B59C-465FE11E31A8}">
      <dgm:prSet/>
      <dgm:spPr/>
      <dgm:t>
        <a:bodyPr/>
        <a:lstStyle/>
        <a:p>
          <a:endParaRPr lang="en-US"/>
        </a:p>
      </dgm:t>
    </dgm:pt>
    <dgm:pt modelId="{16480250-EDE6-4DD3-A751-A6A8D0D77C89}" type="sibTrans" cxnId="{4B70103C-0203-4924-B59C-465FE11E31A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A1A5598-2214-4B17-A2E7-72E0994E678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Decision Engine:</a:t>
          </a:r>
          <a:r>
            <a:rPr lang="en-US" b="0" i="0" baseline="0" dirty="0"/>
            <a:t> Buttons to "Approve" or "Reject." Upon approval, the "End Date" is automatically stamped with the current date to track processing time.</a:t>
          </a:r>
          <a:endParaRPr lang="en-US" dirty="0"/>
        </a:p>
      </dgm:t>
    </dgm:pt>
    <dgm:pt modelId="{C2DC1F3C-E115-4C15-9B9E-D74C8BCF00ED}" type="parTrans" cxnId="{9C0DF90F-6C8C-4FCA-B3CE-FE77D0A6B946}">
      <dgm:prSet/>
      <dgm:spPr/>
      <dgm:t>
        <a:bodyPr/>
        <a:lstStyle/>
        <a:p>
          <a:endParaRPr lang="en-US"/>
        </a:p>
      </dgm:t>
    </dgm:pt>
    <dgm:pt modelId="{17F2BC88-EF16-43C3-94BA-AC3D9ED3D7FD}" type="sibTrans" cxnId="{9C0DF90F-6C8C-4FCA-B3CE-FE77D0A6B946}">
      <dgm:prSet/>
      <dgm:spPr/>
      <dgm:t>
        <a:bodyPr/>
        <a:lstStyle/>
        <a:p>
          <a:endParaRPr lang="en-US"/>
        </a:p>
      </dgm:t>
    </dgm:pt>
    <dgm:pt modelId="{EEF34CAB-116A-45C4-A566-50B2C57B5593}" type="pres">
      <dgm:prSet presAssocID="{4C0C1374-4353-4415-9EAB-E855D3A3FB8A}" presName="root" presStyleCnt="0">
        <dgm:presLayoutVars>
          <dgm:dir/>
          <dgm:resizeHandles val="exact"/>
        </dgm:presLayoutVars>
      </dgm:prSet>
      <dgm:spPr/>
    </dgm:pt>
    <dgm:pt modelId="{FFDDE73B-BDE7-48A2-999F-90280A209FFA}" type="pres">
      <dgm:prSet presAssocID="{E286E18E-9AFE-41ED-B144-AE2836AB8AF5}" presName="compNode" presStyleCnt="0"/>
      <dgm:spPr/>
    </dgm:pt>
    <dgm:pt modelId="{88AD2FBF-E185-4804-A44D-52914F9C687B}" type="pres">
      <dgm:prSet presAssocID="{E286E18E-9AFE-41ED-B144-AE2836AB8AF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E952A2C-1844-4660-BC59-F83E91F2A5D6}" type="pres">
      <dgm:prSet presAssocID="{E286E18E-9AFE-41ED-B144-AE2836AB8AF5}" presName="spaceRect" presStyleCnt="0"/>
      <dgm:spPr/>
    </dgm:pt>
    <dgm:pt modelId="{A2A0E6F0-7106-492C-ADF0-EE431ABFF0E6}" type="pres">
      <dgm:prSet presAssocID="{E286E18E-9AFE-41ED-B144-AE2836AB8AF5}" presName="textRect" presStyleLbl="revTx" presStyleIdx="0" presStyleCnt="4">
        <dgm:presLayoutVars>
          <dgm:chMax val="1"/>
          <dgm:chPref val="1"/>
        </dgm:presLayoutVars>
      </dgm:prSet>
      <dgm:spPr/>
    </dgm:pt>
    <dgm:pt modelId="{4FAC3687-954A-45D6-83AE-5C97F1843039}" type="pres">
      <dgm:prSet presAssocID="{74836550-77FA-40C3-AA42-333A3C76A815}" presName="sibTrans" presStyleCnt="0"/>
      <dgm:spPr/>
    </dgm:pt>
    <dgm:pt modelId="{A0903973-2A1A-4310-B4C7-47E4CB10D3A1}" type="pres">
      <dgm:prSet presAssocID="{A8FB55A8-353C-495E-A4D4-08B09347E874}" presName="compNode" presStyleCnt="0"/>
      <dgm:spPr/>
    </dgm:pt>
    <dgm:pt modelId="{D3E4D4C8-3A86-4744-93F0-7A4B8E5577C8}" type="pres">
      <dgm:prSet presAssocID="{A8FB55A8-353C-495E-A4D4-08B09347E87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EB47D9B2-58DD-4911-A264-DF267D149144}" type="pres">
      <dgm:prSet presAssocID="{A8FB55A8-353C-495E-A4D4-08B09347E874}" presName="spaceRect" presStyleCnt="0"/>
      <dgm:spPr/>
    </dgm:pt>
    <dgm:pt modelId="{1D3F8F9C-36E6-4754-9E9D-63D269830A1E}" type="pres">
      <dgm:prSet presAssocID="{A8FB55A8-353C-495E-A4D4-08B09347E874}" presName="textRect" presStyleLbl="revTx" presStyleIdx="1" presStyleCnt="4">
        <dgm:presLayoutVars>
          <dgm:chMax val="1"/>
          <dgm:chPref val="1"/>
        </dgm:presLayoutVars>
      </dgm:prSet>
      <dgm:spPr/>
    </dgm:pt>
    <dgm:pt modelId="{04C5A7FE-B298-40AE-9062-9BA9F2D6F9E7}" type="pres">
      <dgm:prSet presAssocID="{70AD2E34-8447-479D-A4AB-563FD6D3D6DE}" presName="sibTrans" presStyleCnt="0"/>
      <dgm:spPr/>
    </dgm:pt>
    <dgm:pt modelId="{A8DECA47-BFA8-419C-9219-F352F2711CA7}" type="pres">
      <dgm:prSet presAssocID="{38FBB3FF-772E-4A0E-8C0C-D496124A1FBE}" presName="compNode" presStyleCnt="0"/>
      <dgm:spPr/>
    </dgm:pt>
    <dgm:pt modelId="{34BE9781-7505-4DC2-91AA-7A3ABCCEDB14}" type="pres">
      <dgm:prSet presAssocID="{38FBB3FF-772E-4A0E-8C0C-D496124A1FB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B844090-618A-4CCE-A3EF-F9D5146E899E}" type="pres">
      <dgm:prSet presAssocID="{38FBB3FF-772E-4A0E-8C0C-D496124A1FBE}" presName="spaceRect" presStyleCnt="0"/>
      <dgm:spPr/>
    </dgm:pt>
    <dgm:pt modelId="{480FB1FF-C808-40D8-B85E-A176B9B6D37C}" type="pres">
      <dgm:prSet presAssocID="{38FBB3FF-772E-4A0E-8C0C-D496124A1FBE}" presName="textRect" presStyleLbl="revTx" presStyleIdx="2" presStyleCnt="4">
        <dgm:presLayoutVars>
          <dgm:chMax val="1"/>
          <dgm:chPref val="1"/>
        </dgm:presLayoutVars>
      </dgm:prSet>
      <dgm:spPr/>
    </dgm:pt>
    <dgm:pt modelId="{53D1363D-691C-43CB-9D50-61253A880425}" type="pres">
      <dgm:prSet presAssocID="{16480250-EDE6-4DD3-A751-A6A8D0D77C89}" presName="sibTrans" presStyleCnt="0"/>
      <dgm:spPr/>
    </dgm:pt>
    <dgm:pt modelId="{1D4F2EAA-F6D7-45CC-A7BA-8F83B4F3AAC6}" type="pres">
      <dgm:prSet presAssocID="{EA1A5598-2214-4B17-A2E7-72E0994E6782}" presName="compNode" presStyleCnt="0"/>
      <dgm:spPr/>
    </dgm:pt>
    <dgm:pt modelId="{1EE17B83-D132-4577-A8F8-7B1D5F9B13B8}" type="pres">
      <dgm:prSet presAssocID="{EA1A5598-2214-4B17-A2E7-72E0994E678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C79BD0F3-EAE0-4B3E-A036-33B9C19E9817}" type="pres">
      <dgm:prSet presAssocID="{EA1A5598-2214-4B17-A2E7-72E0994E6782}" presName="spaceRect" presStyleCnt="0"/>
      <dgm:spPr/>
    </dgm:pt>
    <dgm:pt modelId="{6E10BD39-627C-449F-A0C8-2FF0FF560C56}" type="pres">
      <dgm:prSet presAssocID="{EA1A5598-2214-4B17-A2E7-72E0994E67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F8ADD01-4861-46DB-A093-B2D8F2829E4C}" type="presOf" srcId="{EA1A5598-2214-4B17-A2E7-72E0994E6782}" destId="{6E10BD39-627C-449F-A0C8-2FF0FF560C56}" srcOrd="0" destOrd="0" presId="urn:microsoft.com/office/officeart/2018/2/layout/IconLabelList"/>
    <dgm:cxn modelId="{2AA8B90D-14E0-4555-AFF6-94B21A3C8B72}" type="presOf" srcId="{38FBB3FF-772E-4A0E-8C0C-D496124A1FBE}" destId="{480FB1FF-C808-40D8-B85E-A176B9B6D37C}" srcOrd="0" destOrd="0" presId="urn:microsoft.com/office/officeart/2018/2/layout/IconLabelList"/>
    <dgm:cxn modelId="{9C0DF90F-6C8C-4FCA-B3CE-FE77D0A6B946}" srcId="{4C0C1374-4353-4415-9EAB-E855D3A3FB8A}" destId="{EA1A5598-2214-4B17-A2E7-72E0994E6782}" srcOrd="3" destOrd="0" parTransId="{C2DC1F3C-E115-4C15-9B9E-D74C8BCF00ED}" sibTransId="{17F2BC88-EF16-43C3-94BA-AC3D9ED3D7FD}"/>
    <dgm:cxn modelId="{5035C538-CEB0-474A-B58F-B26683171611}" type="presOf" srcId="{4C0C1374-4353-4415-9EAB-E855D3A3FB8A}" destId="{EEF34CAB-116A-45C4-A566-50B2C57B5593}" srcOrd="0" destOrd="0" presId="urn:microsoft.com/office/officeart/2018/2/layout/IconLabelList"/>
    <dgm:cxn modelId="{4B70103C-0203-4924-B59C-465FE11E31A8}" srcId="{4C0C1374-4353-4415-9EAB-E855D3A3FB8A}" destId="{38FBB3FF-772E-4A0E-8C0C-D496124A1FBE}" srcOrd="2" destOrd="0" parTransId="{3DB0EE9A-00E6-4F0A-B90B-2212E5230B5A}" sibTransId="{16480250-EDE6-4DD3-A751-A6A8D0D77C89}"/>
    <dgm:cxn modelId="{A2C96268-4D14-4D69-A689-9EA454048A0D}" type="presOf" srcId="{E286E18E-9AFE-41ED-B144-AE2836AB8AF5}" destId="{A2A0E6F0-7106-492C-ADF0-EE431ABFF0E6}" srcOrd="0" destOrd="0" presId="urn:microsoft.com/office/officeart/2018/2/layout/IconLabelList"/>
    <dgm:cxn modelId="{50630572-4D9B-438F-AE6E-93A97E59B182}" srcId="{4C0C1374-4353-4415-9EAB-E855D3A3FB8A}" destId="{A8FB55A8-353C-495E-A4D4-08B09347E874}" srcOrd="1" destOrd="0" parTransId="{72433B15-8BE9-4D1C-B2FA-26F67857E3AD}" sibTransId="{70AD2E34-8447-479D-A4AB-563FD6D3D6DE}"/>
    <dgm:cxn modelId="{0DC3FF7B-55CC-4B46-8215-A7B870CDDB30}" srcId="{4C0C1374-4353-4415-9EAB-E855D3A3FB8A}" destId="{E286E18E-9AFE-41ED-B144-AE2836AB8AF5}" srcOrd="0" destOrd="0" parTransId="{3AE863DB-A9B6-49B6-8CFE-0F0005D32449}" sibTransId="{74836550-77FA-40C3-AA42-333A3C76A815}"/>
    <dgm:cxn modelId="{45F143C7-3DC2-4092-954D-0F0899CC9BEA}" type="presOf" srcId="{A8FB55A8-353C-495E-A4D4-08B09347E874}" destId="{1D3F8F9C-36E6-4754-9E9D-63D269830A1E}" srcOrd="0" destOrd="0" presId="urn:microsoft.com/office/officeart/2018/2/layout/IconLabelList"/>
    <dgm:cxn modelId="{C6820BC3-1152-4B6C-9BC3-59374D210188}" type="presParOf" srcId="{EEF34CAB-116A-45C4-A566-50B2C57B5593}" destId="{FFDDE73B-BDE7-48A2-999F-90280A209FFA}" srcOrd="0" destOrd="0" presId="urn:microsoft.com/office/officeart/2018/2/layout/IconLabelList"/>
    <dgm:cxn modelId="{4AA3875B-9BAC-492D-907C-5A6A083E9B39}" type="presParOf" srcId="{FFDDE73B-BDE7-48A2-999F-90280A209FFA}" destId="{88AD2FBF-E185-4804-A44D-52914F9C687B}" srcOrd="0" destOrd="0" presId="urn:microsoft.com/office/officeart/2018/2/layout/IconLabelList"/>
    <dgm:cxn modelId="{C8830CE1-1E61-4F8D-9800-98097654BDAB}" type="presParOf" srcId="{FFDDE73B-BDE7-48A2-999F-90280A209FFA}" destId="{EE952A2C-1844-4660-BC59-F83E91F2A5D6}" srcOrd="1" destOrd="0" presId="urn:microsoft.com/office/officeart/2018/2/layout/IconLabelList"/>
    <dgm:cxn modelId="{7148D7B8-630C-4DB8-BFF7-086BAC4A7C68}" type="presParOf" srcId="{FFDDE73B-BDE7-48A2-999F-90280A209FFA}" destId="{A2A0E6F0-7106-492C-ADF0-EE431ABFF0E6}" srcOrd="2" destOrd="0" presId="urn:microsoft.com/office/officeart/2018/2/layout/IconLabelList"/>
    <dgm:cxn modelId="{17DB23CD-AD94-4BCE-AF74-7D74785C7C78}" type="presParOf" srcId="{EEF34CAB-116A-45C4-A566-50B2C57B5593}" destId="{4FAC3687-954A-45D6-83AE-5C97F1843039}" srcOrd="1" destOrd="0" presId="urn:microsoft.com/office/officeart/2018/2/layout/IconLabelList"/>
    <dgm:cxn modelId="{9EA5E6A6-884E-4C8E-AAD2-034D027329C8}" type="presParOf" srcId="{EEF34CAB-116A-45C4-A566-50B2C57B5593}" destId="{A0903973-2A1A-4310-B4C7-47E4CB10D3A1}" srcOrd="2" destOrd="0" presId="urn:microsoft.com/office/officeart/2018/2/layout/IconLabelList"/>
    <dgm:cxn modelId="{85C115FA-FB76-4AAA-868D-EF9318465748}" type="presParOf" srcId="{A0903973-2A1A-4310-B4C7-47E4CB10D3A1}" destId="{D3E4D4C8-3A86-4744-93F0-7A4B8E5577C8}" srcOrd="0" destOrd="0" presId="urn:microsoft.com/office/officeart/2018/2/layout/IconLabelList"/>
    <dgm:cxn modelId="{28EE5DA7-AFBA-4D74-B937-D4E6D548DCAD}" type="presParOf" srcId="{A0903973-2A1A-4310-B4C7-47E4CB10D3A1}" destId="{EB47D9B2-58DD-4911-A264-DF267D149144}" srcOrd="1" destOrd="0" presId="urn:microsoft.com/office/officeart/2018/2/layout/IconLabelList"/>
    <dgm:cxn modelId="{5749520B-B9BB-462B-8505-9C94A14BA3FF}" type="presParOf" srcId="{A0903973-2A1A-4310-B4C7-47E4CB10D3A1}" destId="{1D3F8F9C-36E6-4754-9E9D-63D269830A1E}" srcOrd="2" destOrd="0" presId="urn:microsoft.com/office/officeart/2018/2/layout/IconLabelList"/>
    <dgm:cxn modelId="{BEBD1E1F-78A2-48EF-A5D1-8383F97BCC13}" type="presParOf" srcId="{EEF34CAB-116A-45C4-A566-50B2C57B5593}" destId="{04C5A7FE-B298-40AE-9062-9BA9F2D6F9E7}" srcOrd="3" destOrd="0" presId="urn:microsoft.com/office/officeart/2018/2/layout/IconLabelList"/>
    <dgm:cxn modelId="{94088CB9-B290-4870-9C87-DBDE535EF461}" type="presParOf" srcId="{EEF34CAB-116A-45C4-A566-50B2C57B5593}" destId="{A8DECA47-BFA8-419C-9219-F352F2711CA7}" srcOrd="4" destOrd="0" presId="urn:microsoft.com/office/officeart/2018/2/layout/IconLabelList"/>
    <dgm:cxn modelId="{8325321F-C6B7-40B2-B820-A62715BEC7D0}" type="presParOf" srcId="{A8DECA47-BFA8-419C-9219-F352F2711CA7}" destId="{34BE9781-7505-4DC2-91AA-7A3ABCCEDB14}" srcOrd="0" destOrd="0" presId="urn:microsoft.com/office/officeart/2018/2/layout/IconLabelList"/>
    <dgm:cxn modelId="{65FF1AB1-32F6-4C39-8487-1C7D97C6DAC6}" type="presParOf" srcId="{A8DECA47-BFA8-419C-9219-F352F2711CA7}" destId="{AB844090-618A-4CCE-A3EF-F9D5146E899E}" srcOrd="1" destOrd="0" presId="urn:microsoft.com/office/officeart/2018/2/layout/IconLabelList"/>
    <dgm:cxn modelId="{1547BBA6-6F53-4BB3-926E-EB57755628EA}" type="presParOf" srcId="{A8DECA47-BFA8-419C-9219-F352F2711CA7}" destId="{480FB1FF-C808-40D8-B85E-A176B9B6D37C}" srcOrd="2" destOrd="0" presId="urn:microsoft.com/office/officeart/2018/2/layout/IconLabelList"/>
    <dgm:cxn modelId="{AA855B5D-266F-41AF-9902-D6DE7A794F64}" type="presParOf" srcId="{EEF34CAB-116A-45C4-A566-50B2C57B5593}" destId="{53D1363D-691C-43CB-9D50-61253A880425}" srcOrd="5" destOrd="0" presId="urn:microsoft.com/office/officeart/2018/2/layout/IconLabelList"/>
    <dgm:cxn modelId="{F415C876-13C2-4937-B1A2-0E8DAE5DFADF}" type="presParOf" srcId="{EEF34CAB-116A-45C4-A566-50B2C57B5593}" destId="{1D4F2EAA-F6D7-45CC-A7BA-8F83B4F3AAC6}" srcOrd="6" destOrd="0" presId="urn:microsoft.com/office/officeart/2018/2/layout/IconLabelList"/>
    <dgm:cxn modelId="{BF067B75-04AB-4DC8-87C4-28B9A9FFBB27}" type="presParOf" srcId="{1D4F2EAA-F6D7-45CC-A7BA-8F83B4F3AAC6}" destId="{1EE17B83-D132-4577-A8F8-7B1D5F9B13B8}" srcOrd="0" destOrd="0" presId="urn:microsoft.com/office/officeart/2018/2/layout/IconLabelList"/>
    <dgm:cxn modelId="{24342B65-D40E-4A81-9207-213D71D0E094}" type="presParOf" srcId="{1D4F2EAA-F6D7-45CC-A7BA-8F83B4F3AAC6}" destId="{C79BD0F3-EAE0-4B3E-A036-33B9C19E9817}" srcOrd="1" destOrd="0" presId="urn:microsoft.com/office/officeart/2018/2/layout/IconLabelList"/>
    <dgm:cxn modelId="{C74C39FB-7789-46AC-BF09-62C22455D5FA}" type="presParOf" srcId="{1D4F2EAA-F6D7-45CC-A7BA-8F83B4F3AAC6}" destId="{6E10BD39-627C-449F-A0C8-2FF0FF560C56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3860DAB-C845-4BD3-87E2-BCEE406F198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60589A-3367-435A-B56E-D7EA56A23690}">
      <dgm:prSet custT="1"/>
      <dgm:spPr/>
      <dgm:t>
        <a:bodyPr/>
        <a:lstStyle/>
        <a:p>
          <a:r>
            <a:rPr lang="en-US" sz="2800" b="1" dirty="0"/>
            <a:t>Metrics to track</a:t>
          </a:r>
          <a:r>
            <a:rPr lang="en-US" sz="2800" dirty="0"/>
            <a:t>:</a:t>
          </a:r>
        </a:p>
      </dgm:t>
    </dgm:pt>
    <dgm:pt modelId="{7C23F18A-D76A-45E3-BF3C-F743C753C0DB}" type="parTrans" cxnId="{25B0EA61-06EE-4220-B844-EAA197C84B11}">
      <dgm:prSet/>
      <dgm:spPr/>
      <dgm:t>
        <a:bodyPr/>
        <a:lstStyle/>
        <a:p>
          <a:endParaRPr lang="en-US" sz="2400"/>
        </a:p>
      </dgm:t>
    </dgm:pt>
    <dgm:pt modelId="{C8E110FA-9432-4A1D-8715-40C60EB75F6E}" type="sibTrans" cxnId="{25B0EA61-06EE-4220-B844-EAA197C84B11}">
      <dgm:prSet/>
      <dgm:spPr/>
      <dgm:t>
        <a:bodyPr/>
        <a:lstStyle/>
        <a:p>
          <a:endParaRPr lang="en-US" sz="2400"/>
        </a:p>
      </dgm:t>
    </dgm:pt>
    <dgm:pt modelId="{0A4B4A65-E384-4C53-BE1F-47E5F6FD81C7}">
      <dgm:prSet custT="1"/>
      <dgm:spPr/>
      <dgm:t>
        <a:bodyPr/>
        <a:lstStyle/>
        <a:p>
          <a:r>
            <a:rPr lang="en-US" sz="2400" dirty="0"/>
            <a:t>Total applications, approved, rejected, under review.</a:t>
          </a:r>
        </a:p>
      </dgm:t>
    </dgm:pt>
    <dgm:pt modelId="{48D8B37D-D967-43EA-A7B3-D95F10916036}" type="parTrans" cxnId="{971CF87D-974D-4465-BDEA-C18A27DA0CAF}">
      <dgm:prSet/>
      <dgm:spPr/>
      <dgm:t>
        <a:bodyPr/>
        <a:lstStyle/>
        <a:p>
          <a:endParaRPr lang="en-US" sz="2400"/>
        </a:p>
      </dgm:t>
    </dgm:pt>
    <dgm:pt modelId="{E883A6CA-D6E1-4E15-89D3-062AB1773160}" type="sibTrans" cxnId="{971CF87D-974D-4465-BDEA-C18A27DA0CAF}">
      <dgm:prSet/>
      <dgm:spPr/>
      <dgm:t>
        <a:bodyPr/>
        <a:lstStyle/>
        <a:p>
          <a:endParaRPr lang="en-US" sz="2400"/>
        </a:p>
      </dgm:t>
    </dgm:pt>
    <dgm:pt modelId="{5D813C8F-A55D-4455-92F6-1C6E99D4FAFF}">
      <dgm:prSet custT="1"/>
      <dgm:spPr/>
      <dgm:t>
        <a:bodyPr/>
        <a:lstStyle/>
        <a:p>
          <a:r>
            <a:rPr lang="en-US" sz="2400"/>
            <a:t>Average processing time: End Date - Application Date.</a:t>
          </a:r>
        </a:p>
      </dgm:t>
    </dgm:pt>
    <dgm:pt modelId="{35C21DB1-2FC0-4723-85D7-655E79BE16A5}" type="parTrans" cxnId="{68990236-2EA8-4E86-B7BD-3F94FFC838DC}">
      <dgm:prSet/>
      <dgm:spPr/>
      <dgm:t>
        <a:bodyPr/>
        <a:lstStyle/>
        <a:p>
          <a:endParaRPr lang="en-US" sz="2400"/>
        </a:p>
      </dgm:t>
    </dgm:pt>
    <dgm:pt modelId="{AFBCC888-729A-4F45-B650-1D5A9CDDA1A8}" type="sibTrans" cxnId="{68990236-2EA8-4E86-B7BD-3F94FFC838DC}">
      <dgm:prSet/>
      <dgm:spPr/>
      <dgm:t>
        <a:bodyPr/>
        <a:lstStyle/>
        <a:p>
          <a:endParaRPr lang="en-US" sz="2400"/>
        </a:p>
      </dgm:t>
    </dgm:pt>
    <dgm:pt modelId="{692F6679-9688-445E-8B97-A1C2E0DCEB17}">
      <dgm:prSet custT="1"/>
      <dgm:spPr/>
      <dgm:t>
        <a:bodyPr/>
        <a:lstStyle/>
        <a:p>
          <a:r>
            <a:rPr lang="en-US" sz="2400"/>
            <a:t>Loan trends: total loan amount per month, approval rate per loan amount range.</a:t>
          </a:r>
        </a:p>
      </dgm:t>
    </dgm:pt>
    <dgm:pt modelId="{6501C1AA-9216-4232-B552-932CFD6D1CA1}" type="parTrans" cxnId="{CA79DEBB-5CD2-4700-95EA-282860D0E1C5}">
      <dgm:prSet/>
      <dgm:spPr/>
      <dgm:t>
        <a:bodyPr/>
        <a:lstStyle/>
        <a:p>
          <a:endParaRPr lang="en-US" sz="2400"/>
        </a:p>
      </dgm:t>
    </dgm:pt>
    <dgm:pt modelId="{042E2E78-1513-4BC6-881B-9ACD6187BEF1}" type="sibTrans" cxnId="{CA79DEBB-5CD2-4700-95EA-282860D0E1C5}">
      <dgm:prSet/>
      <dgm:spPr/>
      <dgm:t>
        <a:bodyPr/>
        <a:lstStyle/>
        <a:p>
          <a:endParaRPr lang="en-US" sz="2400"/>
        </a:p>
      </dgm:t>
    </dgm:pt>
    <dgm:pt modelId="{BB0B6683-E5DE-478F-B690-B9771A3AE8EC}">
      <dgm:prSet custT="1"/>
      <dgm:spPr/>
      <dgm:t>
        <a:bodyPr/>
        <a:lstStyle/>
        <a:p>
          <a:r>
            <a:rPr lang="en-US" sz="2400"/>
            <a:t>Attachments verification rate.</a:t>
          </a:r>
        </a:p>
      </dgm:t>
    </dgm:pt>
    <dgm:pt modelId="{EAE6B39F-418E-4948-9EA4-76F2747FB047}" type="parTrans" cxnId="{3F1BD75C-94E9-4FDB-8868-A25947BBA0E7}">
      <dgm:prSet/>
      <dgm:spPr/>
      <dgm:t>
        <a:bodyPr/>
        <a:lstStyle/>
        <a:p>
          <a:endParaRPr lang="en-US" sz="2400"/>
        </a:p>
      </dgm:t>
    </dgm:pt>
    <dgm:pt modelId="{8C688D33-C372-43EA-8B53-CD288160D717}" type="sibTrans" cxnId="{3F1BD75C-94E9-4FDB-8868-A25947BBA0E7}">
      <dgm:prSet/>
      <dgm:spPr/>
      <dgm:t>
        <a:bodyPr/>
        <a:lstStyle/>
        <a:p>
          <a:endParaRPr lang="en-US" sz="2400"/>
        </a:p>
      </dgm:t>
    </dgm:pt>
    <dgm:pt modelId="{59FA6103-056D-458D-A35F-1C68EB0AC819}" type="pres">
      <dgm:prSet presAssocID="{43860DAB-C845-4BD3-87E2-BCEE406F1988}" presName="linear" presStyleCnt="0">
        <dgm:presLayoutVars>
          <dgm:animLvl val="lvl"/>
          <dgm:resizeHandles val="exact"/>
        </dgm:presLayoutVars>
      </dgm:prSet>
      <dgm:spPr/>
    </dgm:pt>
    <dgm:pt modelId="{3B72782D-E231-4F15-9843-8B7C579B0E8A}" type="pres">
      <dgm:prSet presAssocID="{0360589A-3367-435A-B56E-D7EA56A23690}" presName="parentText" presStyleLbl="node1" presStyleIdx="0" presStyleCnt="5" custLinFactNeighborX="0" custLinFactNeighborY="-68234">
        <dgm:presLayoutVars>
          <dgm:chMax val="0"/>
          <dgm:bulletEnabled val="1"/>
        </dgm:presLayoutVars>
      </dgm:prSet>
      <dgm:spPr/>
    </dgm:pt>
    <dgm:pt modelId="{BDE2BA7F-1364-4045-9057-65C396D10327}" type="pres">
      <dgm:prSet presAssocID="{C8E110FA-9432-4A1D-8715-40C60EB75F6E}" presName="spacer" presStyleCnt="0"/>
      <dgm:spPr/>
    </dgm:pt>
    <dgm:pt modelId="{F3723665-05A0-4AD0-9C55-5B3EC266D53F}" type="pres">
      <dgm:prSet presAssocID="{0A4B4A65-E384-4C53-BE1F-47E5F6FD81C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3019EC8-2DDA-4553-950A-503390E3CEAE}" type="pres">
      <dgm:prSet presAssocID="{E883A6CA-D6E1-4E15-89D3-062AB1773160}" presName="spacer" presStyleCnt="0"/>
      <dgm:spPr/>
    </dgm:pt>
    <dgm:pt modelId="{271D8BE3-955D-43C8-B4BA-C912E31B4837}" type="pres">
      <dgm:prSet presAssocID="{5D813C8F-A55D-4455-92F6-1C6E99D4FAF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376C3B8-7C38-4C32-87FE-6C841B5AEB08}" type="pres">
      <dgm:prSet presAssocID="{AFBCC888-729A-4F45-B650-1D5A9CDDA1A8}" presName="spacer" presStyleCnt="0"/>
      <dgm:spPr/>
    </dgm:pt>
    <dgm:pt modelId="{332B8530-1070-408F-894C-84145EED585D}" type="pres">
      <dgm:prSet presAssocID="{692F6679-9688-445E-8B97-A1C2E0DCEB1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2203DA6-EF72-4276-AB1A-2FC23677D4DF}" type="pres">
      <dgm:prSet presAssocID="{042E2E78-1513-4BC6-881B-9ACD6187BEF1}" presName="spacer" presStyleCnt="0"/>
      <dgm:spPr/>
    </dgm:pt>
    <dgm:pt modelId="{6D798E98-FC2C-4BD8-939F-0482DDA68D8E}" type="pres">
      <dgm:prSet presAssocID="{BB0B6683-E5DE-478F-B690-B9771A3AE8E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9A9BD01-5046-4254-AD5E-0F6C9E127D07}" type="presOf" srcId="{5D813C8F-A55D-4455-92F6-1C6E99D4FAFF}" destId="{271D8BE3-955D-43C8-B4BA-C912E31B4837}" srcOrd="0" destOrd="0" presId="urn:microsoft.com/office/officeart/2005/8/layout/vList2"/>
    <dgm:cxn modelId="{4589F430-DE85-48D2-9ADD-7607FFB96E7E}" type="presOf" srcId="{43860DAB-C845-4BD3-87E2-BCEE406F1988}" destId="{59FA6103-056D-458D-A35F-1C68EB0AC819}" srcOrd="0" destOrd="0" presId="urn:microsoft.com/office/officeart/2005/8/layout/vList2"/>
    <dgm:cxn modelId="{71E31933-4EA3-4B8E-B8BD-4225624A8E6D}" type="presOf" srcId="{0360589A-3367-435A-B56E-D7EA56A23690}" destId="{3B72782D-E231-4F15-9843-8B7C579B0E8A}" srcOrd="0" destOrd="0" presId="urn:microsoft.com/office/officeart/2005/8/layout/vList2"/>
    <dgm:cxn modelId="{68990236-2EA8-4E86-B7BD-3F94FFC838DC}" srcId="{43860DAB-C845-4BD3-87E2-BCEE406F1988}" destId="{5D813C8F-A55D-4455-92F6-1C6E99D4FAFF}" srcOrd="2" destOrd="0" parTransId="{35C21DB1-2FC0-4723-85D7-655E79BE16A5}" sibTransId="{AFBCC888-729A-4F45-B650-1D5A9CDDA1A8}"/>
    <dgm:cxn modelId="{3F1BD75C-94E9-4FDB-8868-A25947BBA0E7}" srcId="{43860DAB-C845-4BD3-87E2-BCEE406F1988}" destId="{BB0B6683-E5DE-478F-B690-B9771A3AE8EC}" srcOrd="4" destOrd="0" parTransId="{EAE6B39F-418E-4948-9EA4-76F2747FB047}" sibTransId="{8C688D33-C372-43EA-8B53-CD288160D717}"/>
    <dgm:cxn modelId="{25B0EA61-06EE-4220-B844-EAA197C84B11}" srcId="{43860DAB-C845-4BD3-87E2-BCEE406F1988}" destId="{0360589A-3367-435A-B56E-D7EA56A23690}" srcOrd="0" destOrd="0" parTransId="{7C23F18A-D76A-45E3-BF3C-F743C753C0DB}" sibTransId="{C8E110FA-9432-4A1D-8715-40C60EB75F6E}"/>
    <dgm:cxn modelId="{18C3EE65-C3CA-4BC5-B975-721FB5123F83}" type="presOf" srcId="{BB0B6683-E5DE-478F-B690-B9771A3AE8EC}" destId="{6D798E98-FC2C-4BD8-939F-0482DDA68D8E}" srcOrd="0" destOrd="0" presId="urn:microsoft.com/office/officeart/2005/8/layout/vList2"/>
    <dgm:cxn modelId="{46974547-BD75-4535-A417-3C5C58BCFA4A}" type="presOf" srcId="{0A4B4A65-E384-4C53-BE1F-47E5F6FD81C7}" destId="{F3723665-05A0-4AD0-9C55-5B3EC266D53F}" srcOrd="0" destOrd="0" presId="urn:microsoft.com/office/officeart/2005/8/layout/vList2"/>
    <dgm:cxn modelId="{971CF87D-974D-4465-BDEA-C18A27DA0CAF}" srcId="{43860DAB-C845-4BD3-87E2-BCEE406F1988}" destId="{0A4B4A65-E384-4C53-BE1F-47E5F6FD81C7}" srcOrd="1" destOrd="0" parTransId="{48D8B37D-D967-43EA-A7B3-D95F10916036}" sibTransId="{E883A6CA-D6E1-4E15-89D3-062AB1773160}"/>
    <dgm:cxn modelId="{CA79DEBB-5CD2-4700-95EA-282860D0E1C5}" srcId="{43860DAB-C845-4BD3-87E2-BCEE406F1988}" destId="{692F6679-9688-445E-8B97-A1C2E0DCEB17}" srcOrd="3" destOrd="0" parTransId="{6501C1AA-9216-4232-B552-932CFD6D1CA1}" sibTransId="{042E2E78-1513-4BC6-881B-9ACD6187BEF1}"/>
    <dgm:cxn modelId="{5BAF34BD-2062-4450-94FA-EACE2B4A5866}" type="presOf" srcId="{692F6679-9688-445E-8B97-A1C2E0DCEB17}" destId="{332B8530-1070-408F-894C-84145EED585D}" srcOrd="0" destOrd="0" presId="urn:microsoft.com/office/officeart/2005/8/layout/vList2"/>
    <dgm:cxn modelId="{2A3EED2F-EC70-4C4B-81FB-9028A2A356C6}" type="presParOf" srcId="{59FA6103-056D-458D-A35F-1C68EB0AC819}" destId="{3B72782D-E231-4F15-9843-8B7C579B0E8A}" srcOrd="0" destOrd="0" presId="urn:microsoft.com/office/officeart/2005/8/layout/vList2"/>
    <dgm:cxn modelId="{F27BA15C-9A29-4C0D-847A-45A4B275BC65}" type="presParOf" srcId="{59FA6103-056D-458D-A35F-1C68EB0AC819}" destId="{BDE2BA7F-1364-4045-9057-65C396D10327}" srcOrd="1" destOrd="0" presId="urn:microsoft.com/office/officeart/2005/8/layout/vList2"/>
    <dgm:cxn modelId="{9B93E340-1E26-4611-861B-06072F648980}" type="presParOf" srcId="{59FA6103-056D-458D-A35F-1C68EB0AC819}" destId="{F3723665-05A0-4AD0-9C55-5B3EC266D53F}" srcOrd="2" destOrd="0" presId="urn:microsoft.com/office/officeart/2005/8/layout/vList2"/>
    <dgm:cxn modelId="{DF82E003-37DA-4B38-AAFE-F0D3E9ECBFA9}" type="presParOf" srcId="{59FA6103-056D-458D-A35F-1C68EB0AC819}" destId="{03019EC8-2DDA-4553-950A-503390E3CEAE}" srcOrd="3" destOrd="0" presId="urn:microsoft.com/office/officeart/2005/8/layout/vList2"/>
    <dgm:cxn modelId="{4C0A19E7-01DE-4E7C-8711-129FAE61E250}" type="presParOf" srcId="{59FA6103-056D-458D-A35F-1C68EB0AC819}" destId="{271D8BE3-955D-43C8-B4BA-C912E31B4837}" srcOrd="4" destOrd="0" presId="urn:microsoft.com/office/officeart/2005/8/layout/vList2"/>
    <dgm:cxn modelId="{71C2664D-DCE0-4BCE-9729-3381F9BDA44B}" type="presParOf" srcId="{59FA6103-056D-458D-A35F-1C68EB0AC819}" destId="{D376C3B8-7C38-4C32-87FE-6C841B5AEB08}" srcOrd="5" destOrd="0" presId="urn:microsoft.com/office/officeart/2005/8/layout/vList2"/>
    <dgm:cxn modelId="{C9FE7D56-8128-43CE-ACC9-FA800FED1321}" type="presParOf" srcId="{59FA6103-056D-458D-A35F-1C68EB0AC819}" destId="{332B8530-1070-408F-894C-84145EED585D}" srcOrd="6" destOrd="0" presId="urn:microsoft.com/office/officeart/2005/8/layout/vList2"/>
    <dgm:cxn modelId="{30DF4C1A-1457-43E8-BE98-3A19B7AF10C3}" type="presParOf" srcId="{59FA6103-056D-458D-A35F-1C68EB0AC819}" destId="{E2203DA6-EF72-4276-AB1A-2FC23677D4DF}" srcOrd="7" destOrd="0" presId="urn:microsoft.com/office/officeart/2005/8/layout/vList2"/>
    <dgm:cxn modelId="{24077F2E-3912-4D5F-B3E5-B1320004D07A}" type="presParOf" srcId="{59FA6103-056D-458D-A35F-1C68EB0AC819}" destId="{6D798E98-FC2C-4BD8-939F-0482DDA68D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24F389-D501-4F2E-8890-462FD59C9C26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5341E-8CB8-4184-9D7A-D0E0CACC78F8}">
      <dgm:prSet/>
      <dgm:spPr/>
      <dgm:t>
        <a:bodyPr/>
        <a:lstStyle/>
        <a:p>
          <a:pPr>
            <a:buNone/>
          </a:pPr>
          <a:r>
            <a:rPr lang="en-US" b="1"/>
            <a:t>Digital Signatures:</a:t>
          </a:r>
          <a:r>
            <a:rPr lang="en-US"/>
            <a:t> It is assumed that the physical signature "+())</a:t>
          </a:r>
          <a:r>
            <a:rPr lang="en-US" i="1"/>
            <a:t>(</a:t>
          </a:r>
          <a:r>
            <a:rPr lang="en-US"/>
            <a:t>(&amp;*&amp;" will be replaced by an authenticated Power Platform digital signature.</a:t>
          </a:r>
        </a:p>
      </dgm:t>
    </dgm:pt>
    <dgm:pt modelId="{DB3E8D6D-BEF1-43A1-BE89-7EFB142BEA4A}" type="parTrans" cxnId="{E8B8E1F5-DAFF-4BCE-A2A6-ABB1A1D9F5F1}">
      <dgm:prSet/>
      <dgm:spPr/>
      <dgm:t>
        <a:bodyPr/>
        <a:lstStyle/>
        <a:p>
          <a:endParaRPr lang="en-US" sz="2400"/>
        </a:p>
      </dgm:t>
    </dgm:pt>
    <dgm:pt modelId="{F03460E1-BC7C-4FEA-B952-E71100AA245E}" type="sibTrans" cxnId="{E8B8E1F5-DAFF-4BCE-A2A6-ABB1A1D9F5F1}">
      <dgm:prSet/>
      <dgm:spPr/>
      <dgm:t>
        <a:bodyPr/>
        <a:lstStyle/>
        <a:p>
          <a:endParaRPr lang="en-US"/>
        </a:p>
      </dgm:t>
    </dgm:pt>
    <dgm:pt modelId="{1A8E8FE9-632D-4D81-BC1F-3A67CB074FE6}">
      <dgm:prSet/>
      <dgm:spPr/>
      <dgm:t>
        <a:bodyPr/>
        <a:lstStyle/>
        <a:p>
          <a:r>
            <a:rPr lang="en-US" b="1"/>
            <a:t>Environment:</a:t>
          </a:r>
          <a:r>
            <a:rPr lang="en-US"/>
            <a:t> The solution assumes a Power Apps per-user license is available for the 50 initial records and future growth..</a:t>
          </a:r>
        </a:p>
      </dgm:t>
    </dgm:pt>
    <dgm:pt modelId="{0CF46C5C-5090-4D4D-9EA6-A9350CC866C8}" type="parTrans" cxnId="{B4FFA66E-7E74-47B6-B9BE-23CA78558F59}">
      <dgm:prSet/>
      <dgm:spPr/>
      <dgm:t>
        <a:bodyPr/>
        <a:lstStyle/>
        <a:p>
          <a:endParaRPr lang="en-US" sz="2400"/>
        </a:p>
      </dgm:t>
    </dgm:pt>
    <dgm:pt modelId="{1E9BE7A9-C924-4BCE-833A-421C31F84A7F}" type="sibTrans" cxnId="{B4FFA66E-7E74-47B6-B9BE-23CA78558F59}">
      <dgm:prSet/>
      <dgm:spPr/>
      <dgm:t>
        <a:bodyPr/>
        <a:lstStyle/>
        <a:p>
          <a:endParaRPr lang="en-US"/>
        </a:p>
      </dgm:t>
    </dgm:pt>
    <dgm:pt modelId="{E26ECBDD-272C-4223-9E9F-B2B2FC3836A9}" type="pres">
      <dgm:prSet presAssocID="{1724F389-D501-4F2E-8890-462FD59C9C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8A7154-C64E-4CA0-A41E-9AE735D91751}" type="pres">
      <dgm:prSet presAssocID="{EB95341E-8CB8-4184-9D7A-D0E0CACC78F8}" presName="hierRoot1" presStyleCnt="0"/>
      <dgm:spPr/>
    </dgm:pt>
    <dgm:pt modelId="{4FAA1863-830A-4EA2-B623-08D0B63487AA}" type="pres">
      <dgm:prSet presAssocID="{EB95341E-8CB8-4184-9D7A-D0E0CACC78F8}" presName="composite" presStyleCnt="0"/>
      <dgm:spPr/>
    </dgm:pt>
    <dgm:pt modelId="{E8593CF6-6F32-4007-BB5C-1E8AA7875F40}" type="pres">
      <dgm:prSet presAssocID="{EB95341E-8CB8-4184-9D7A-D0E0CACC78F8}" presName="background" presStyleLbl="node0" presStyleIdx="0" presStyleCnt="2"/>
      <dgm:spPr/>
    </dgm:pt>
    <dgm:pt modelId="{4CEC4827-9A40-4EB3-881F-F3FF032A773C}" type="pres">
      <dgm:prSet presAssocID="{EB95341E-8CB8-4184-9D7A-D0E0CACC78F8}" presName="text" presStyleLbl="fgAcc0" presStyleIdx="0" presStyleCnt="2">
        <dgm:presLayoutVars>
          <dgm:chPref val="3"/>
        </dgm:presLayoutVars>
      </dgm:prSet>
      <dgm:spPr/>
    </dgm:pt>
    <dgm:pt modelId="{3EB5C96A-6A92-4C84-A1CE-81D23F76BB85}" type="pres">
      <dgm:prSet presAssocID="{EB95341E-8CB8-4184-9D7A-D0E0CACC78F8}" presName="hierChild2" presStyleCnt="0"/>
      <dgm:spPr/>
    </dgm:pt>
    <dgm:pt modelId="{56D0E28B-CB4D-4545-B807-CC3DAF1B6457}" type="pres">
      <dgm:prSet presAssocID="{1A8E8FE9-632D-4D81-BC1F-3A67CB074FE6}" presName="hierRoot1" presStyleCnt="0"/>
      <dgm:spPr/>
    </dgm:pt>
    <dgm:pt modelId="{F0794CD0-A175-4637-84FA-CF32453FA030}" type="pres">
      <dgm:prSet presAssocID="{1A8E8FE9-632D-4D81-BC1F-3A67CB074FE6}" presName="composite" presStyleCnt="0"/>
      <dgm:spPr/>
    </dgm:pt>
    <dgm:pt modelId="{CC84C5DC-7AA4-40C1-9BF5-FB82750032DF}" type="pres">
      <dgm:prSet presAssocID="{1A8E8FE9-632D-4D81-BC1F-3A67CB074FE6}" presName="background" presStyleLbl="node0" presStyleIdx="1" presStyleCnt="2"/>
      <dgm:spPr/>
    </dgm:pt>
    <dgm:pt modelId="{58E0C4B4-FE19-48CC-B6E2-0FE2E15F82E7}" type="pres">
      <dgm:prSet presAssocID="{1A8E8FE9-632D-4D81-BC1F-3A67CB074FE6}" presName="text" presStyleLbl="fgAcc0" presStyleIdx="1" presStyleCnt="2">
        <dgm:presLayoutVars>
          <dgm:chPref val="3"/>
        </dgm:presLayoutVars>
      </dgm:prSet>
      <dgm:spPr/>
    </dgm:pt>
    <dgm:pt modelId="{C2F8052A-5E10-4618-B9B2-D54B0640246D}" type="pres">
      <dgm:prSet presAssocID="{1A8E8FE9-632D-4D81-BC1F-3A67CB074FE6}" presName="hierChild2" presStyleCnt="0"/>
      <dgm:spPr/>
    </dgm:pt>
  </dgm:ptLst>
  <dgm:cxnLst>
    <dgm:cxn modelId="{0247B800-F587-4220-B475-E73AC4046ED6}" type="presOf" srcId="{EB95341E-8CB8-4184-9D7A-D0E0CACC78F8}" destId="{4CEC4827-9A40-4EB3-881F-F3FF032A773C}" srcOrd="0" destOrd="0" presId="urn:microsoft.com/office/officeart/2005/8/layout/hierarchy1"/>
    <dgm:cxn modelId="{B4FFA66E-7E74-47B6-B9BE-23CA78558F59}" srcId="{1724F389-D501-4F2E-8890-462FD59C9C26}" destId="{1A8E8FE9-632D-4D81-BC1F-3A67CB074FE6}" srcOrd="1" destOrd="0" parTransId="{0CF46C5C-5090-4D4D-9EA6-A9350CC866C8}" sibTransId="{1E9BE7A9-C924-4BCE-833A-421C31F84A7F}"/>
    <dgm:cxn modelId="{39A74D71-8F0A-46D6-99CC-236845E82A8B}" type="presOf" srcId="{1724F389-D501-4F2E-8890-462FD59C9C26}" destId="{E26ECBDD-272C-4223-9E9F-B2B2FC3836A9}" srcOrd="0" destOrd="0" presId="urn:microsoft.com/office/officeart/2005/8/layout/hierarchy1"/>
    <dgm:cxn modelId="{462EEEE2-C904-441E-B605-132BA517BF4F}" type="presOf" srcId="{1A8E8FE9-632D-4D81-BC1F-3A67CB074FE6}" destId="{58E0C4B4-FE19-48CC-B6E2-0FE2E15F82E7}" srcOrd="0" destOrd="0" presId="urn:microsoft.com/office/officeart/2005/8/layout/hierarchy1"/>
    <dgm:cxn modelId="{E8B8E1F5-DAFF-4BCE-A2A6-ABB1A1D9F5F1}" srcId="{1724F389-D501-4F2E-8890-462FD59C9C26}" destId="{EB95341E-8CB8-4184-9D7A-D0E0CACC78F8}" srcOrd="0" destOrd="0" parTransId="{DB3E8D6D-BEF1-43A1-BE89-7EFB142BEA4A}" sibTransId="{F03460E1-BC7C-4FEA-B952-E71100AA245E}"/>
    <dgm:cxn modelId="{F0E97AA6-F6BF-40EC-BC19-9494B9A4672C}" type="presParOf" srcId="{E26ECBDD-272C-4223-9E9F-B2B2FC3836A9}" destId="{6E8A7154-C64E-4CA0-A41E-9AE735D91751}" srcOrd="0" destOrd="0" presId="urn:microsoft.com/office/officeart/2005/8/layout/hierarchy1"/>
    <dgm:cxn modelId="{259445B0-5001-4191-98E3-BB8995D8811D}" type="presParOf" srcId="{6E8A7154-C64E-4CA0-A41E-9AE735D91751}" destId="{4FAA1863-830A-4EA2-B623-08D0B63487AA}" srcOrd="0" destOrd="0" presId="urn:microsoft.com/office/officeart/2005/8/layout/hierarchy1"/>
    <dgm:cxn modelId="{460277A4-1796-42B4-879A-C22432AABB85}" type="presParOf" srcId="{4FAA1863-830A-4EA2-B623-08D0B63487AA}" destId="{E8593CF6-6F32-4007-BB5C-1E8AA7875F40}" srcOrd="0" destOrd="0" presId="urn:microsoft.com/office/officeart/2005/8/layout/hierarchy1"/>
    <dgm:cxn modelId="{2634DE24-96DA-4AEF-997B-801357C4CE81}" type="presParOf" srcId="{4FAA1863-830A-4EA2-B623-08D0B63487AA}" destId="{4CEC4827-9A40-4EB3-881F-F3FF032A773C}" srcOrd="1" destOrd="0" presId="urn:microsoft.com/office/officeart/2005/8/layout/hierarchy1"/>
    <dgm:cxn modelId="{B6F6DC9E-1D78-4420-8297-FF3B8F958D39}" type="presParOf" srcId="{6E8A7154-C64E-4CA0-A41E-9AE735D91751}" destId="{3EB5C96A-6A92-4C84-A1CE-81D23F76BB85}" srcOrd="1" destOrd="0" presId="urn:microsoft.com/office/officeart/2005/8/layout/hierarchy1"/>
    <dgm:cxn modelId="{C262D24D-E923-4865-AF56-FCE87DABDF26}" type="presParOf" srcId="{E26ECBDD-272C-4223-9E9F-B2B2FC3836A9}" destId="{56D0E28B-CB4D-4545-B807-CC3DAF1B6457}" srcOrd="1" destOrd="0" presId="urn:microsoft.com/office/officeart/2005/8/layout/hierarchy1"/>
    <dgm:cxn modelId="{1945AE1F-8807-4CE3-B681-561D52C60B79}" type="presParOf" srcId="{56D0E28B-CB4D-4545-B807-CC3DAF1B6457}" destId="{F0794CD0-A175-4637-84FA-CF32453FA030}" srcOrd="0" destOrd="0" presId="urn:microsoft.com/office/officeart/2005/8/layout/hierarchy1"/>
    <dgm:cxn modelId="{19D8E280-4C67-4657-AC74-B13EECD5B85C}" type="presParOf" srcId="{F0794CD0-A175-4637-84FA-CF32453FA030}" destId="{CC84C5DC-7AA4-40C1-9BF5-FB82750032DF}" srcOrd="0" destOrd="0" presId="urn:microsoft.com/office/officeart/2005/8/layout/hierarchy1"/>
    <dgm:cxn modelId="{AC129CAE-A803-4529-9D08-412A600C5AA1}" type="presParOf" srcId="{F0794CD0-A175-4637-84FA-CF32453FA030}" destId="{58E0C4B4-FE19-48CC-B6E2-0FE2E15F82E7}" srcOrd="1" destOrd="0" presId="urn:microsoft.com/office/officeart/2005/8/layout/hierarchy1"/>
    <dgm:cxn modelId="{1AFF4032-746A-40ED-8445-75BD3482077D}" type="presParOf" srcId="{56D0E28B-CB4D-4545-B807-CC3DAF1B6457}" destId="{C2F8052A-5E10-4618-B9B2-D54B064024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24F389-D501-4F2E-8890-462FD59C9C26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EB95341E-8CB8-4184-9D7A-D0E0CACC78F8}">
      <dgm:prSet/>
      <dgm:spPr/>
      <dgm:t>
        <a:bodyPr/>
        <a:lstStyle/>
        <a:p>
          <a:pPr>
            <a:buNone/>
          </a:pPr>
          <a:r>
            <a:rPr lang="en-US" dirty="0"/>
            <a:t>Integrate </a:t>
          </a:r>
          <a:r>
            <a:rPr lang="en-US" b="1" dirty="0"/>
            <a:t>Power Virtual Agent</a:t>
          </a:r>
          <a:r>
            <a:rPr lang="en-US" dirty="0"/>
            <a:t> chatbot for customer queries.</a:t>
          </a:r>
        </a:p>
      </dgm:t>
    </dgm:pt>
    <dgm:pt modelId="{DB3E8D6D-BEF1-43A1-BE89-7EFB142BEA4A}" type="parTrans" cxnId="{E8B8E1F5-DAFF-4BCE-A2A6-ABB1A1D9F5F1}">
      <dgm:prSet/>
      <dgm:spPr/>
      <dgm:t>
        <a:bodyPr/>
        <a:lstStyle/>
        <a:p>
          <a:endParaRPr lang="en-US" sz="2400"/>
        </a:p>
      </dgm:t>
    </dgm:pt>
    <dgm:pt modelId="{F03460E1-BC7C-4FEA-B952-E71100AA245E}" type="sibTrans" cxnId="{E8B8E1F5-DAFF-4BCE-A2A6-ABB1A1D9F5F1}">
      <dgm:prSet/>
      <dgm:spPr/>
      <dgm:t>
        <a:bodyPr/>
        <a:lstStyle/>
        <a:p>
          <a:endParaRPr lang="en-US"/>
        </a:p>
      </dgm:t>
    </dgm:pt>
    <dgm:pt modelId="{CB944B95-AF4E-46D3-9214-1726CB30B5FE}">
      <dgm:prSet/>
      <dgm:spPr/>
      <dgm:t>
        <a:bodyPr/>
        <a:lstStyle/>
        <a:p>
          <a:pPr>
            <a:buNone/>
          </a:pPr>
          <a:r>
            <a:rPr lang="en-US" dirty="0"/>
            <a:t>Use AI Builder to extract fields from uploaded PDF (e.g., loan amount, customer name).</a:t>
          </a:r>
          <a:endParaRPr lang="en-CA" dirty="0"/>
        </a:p>
      </dgm:t>
    </dgm:pt>
    <dgm:pt modelId="{993F6FFC-EA13-497D-9FC8-0B8527131F2B}" type="parTrans" cxnId="{5FC304FF-96C0-4C34-838B-7FF694943867}">
      <dgm:prSet/>
      <dgm:spPr/>
      <dgm:t>
        <a:bodyPr/>
        <a:lstStyle/>
        <a:p>
          <a:endParaRPr lang="en-CA"/>
        </a:p>
      </dgm:t>
    </dgm:pt>
    <dgm:pt modelId="{8576DC1B-255B-47D1-81B0-F6D1576DB4D8}" type="sibTrans" cxnId="{5FC304FF-96C0-4C34-838B-7FF694943867}">
      <dgm:prSet/>
      <dgm:spPr/>
      <dgm:t>
        <a:bodyPr/>
        <a:lstStyle/>
        <a:p>
          <a:endParaRPr lang="en-CA"/>
        </a:p>
      </dgm:t>
    </dgm:pt>
    <dgm:pt modelId="{5B1DD226-79C0-4696-8BDF-BCC77AA67EDD}">
      <dgm:prSet/>
      <dgm:spPr/>
      <dgm:t>
        <a:bodyPr/>
        <a:lstStyle/>
        <a:p>
          <a:pPr>
            <a:buNone/>
          </a:pPr>
          <a:r>
            <a:rPr lang="en-US"/>
            <a:t>Set up </a:t>
          </a:r>
          <a:r>
            <a:rPr lang="en-US" b="1"/>
            <a:t>alerts for high-value loans</a:t>
          </a:r>
          <a:endParaRPr lang="en-US"/>
        </a:p>
      </dgm:t>
    </dgm:pt>
    <dgm:pt modelId="{3EEC3403-95C4-44E1-8D72-33DB5560283D}" type="parTrans" cxnId="{77D3FF18-AF15-4BDC-B367-2AD9544264FE}">
      <dgm:prSet/>
      <dgm:spPr/>
      <dgm:t>
        <a:bodyPr/>
        <a:lstStyle/>
        <a:p>
          <a:endParaRPr lang="en-CA"/>
        </a:p>
      </dgm:t>
    </dgm:pt>
    <dgm:pt modelId="{490BAEDF-34F0-4C80-9F0C-83C8193046D4}" type="sibTrans" cxnId="{77D3FF18-AF15-4BDC-B367-2AD9544264FE}">
      <dgm:prSet/>
      <dgm:spPr/>
      <dgm:t>
        <a:bodyPr/>
        <a:lstStyle/>
        <a:p>
          <a:endParaRPr lang="en-CA"/>
        </a:p>
      </dgm:t>
    </dgm:pt>
    <dgm:pt modelId="{E26ECBDD-272C-4223-9E9F-B2B2FC3836A9}" type="pres">
      <dgm:prSet presAssocID="{1724F389-D501-4F2E-8890-462FD59C9C2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8A7154-C64E-4CA0-A41E-9AE735D91751}" type="pres">
      <dgm:prSet presAssocID="{EB95341E-8CB8-4184-9D7A-D0E0CACC78F8}" presName="hierRoot1" presStyleCnt="0"/>
      <dgm:spPr/>
    </dgm:pt>
    <dgm:pt modelId="{4FAA1863-830A-4EA2-B623-08D0B63487AA}" type="pres">
      <dgm:prSet presAssocID="{EB95341E-8CB8-4184-9D7A-D0E0CACC78F8}" presName="composite" presStyleCnt="0"/>
      <dgm:spPr/>
    </dgm:pt>
    <dgm:pt modelId="{E8593CF6-6F32-4007-BB5C-1E8AA7875F40}" type="pres">
      <dgm:prSet presAssocID="{EB95341E-8CB8-4184-9D7A-D0E0CACC78F8}" presName="background" presStyleLbl="node0" presStyleIdx="0" presStyleCnt="3"/>
      <dgm:spPr/>
    </dgm:pt>
    <dgm:pt modelId="{4CEC4827-9A40-4EB3-881F-F3FF032A773C}" type="pres">
      <dgm:prSet presAssocID="{EB95341E-8CB8-4184-9D7A-D0E0CACC78F8}" presName="text" presStyleLbl="fgAcc0" presStyleIdx="0" presStyleCnt="3" custLinFactNeighborX="2445" custLinFactNeighborY="3269">
        <dgm:presLayoutVars>
          <dgm:chPref val="3"/>
        </dgm:presLayoutVars>
      </dgm:prSet>
      <dgm:spPr/>
    </dgm:pt>
    <dgm:pt modelId="{3EB5C96A-6A92-4C84-A1CE-81D23F76BB85}" type="pres">
      <dgm:prSet presAssocID="{EB95341E-8CB8-4184-9D7A-D0E0CACC78F8}" presName="hierChild2" presStyleCnt="0"/>
      <dgm:spPr/>
    </dgm:pt>
    <dgm:pt modelId="{4660C975-A32E-4F8E-9DDF-707EB1BA260C}" type="pres">
      <dgm:prSet presAssocID="{CB944B95-AF4E-46D3-9214-1726CB30B5FE}" presName="hierRoot1" presStyleCnt="0"/>
      <dgm:spPr/>
    </dgm:pt>
    <dgm:pt modelId="{2A72D09E-85AC-4446-8284-D99E12405A26}" type="pres">
      <dgm:prSet presAssocID="{CB944B95-AF4E-46D3-9214-1726CB30B5FE}" presName="composite" presStyleCnt="0"/>
      <dgm:spPr/>
    </dgm:pt>
    <dgm:pt modelId="{272CCC34-3A51-4188-8336-4B5C4CA14F3B}" type="pres">
      <dgm:prSet presAssocID="{CB944B95-AF4E-46D3-9214-1726CB30B5FE}" presName="background" presStyleLbl="node0" presStyleIdx="1" presStyleCnt="3"/>
      <dgm:spPr/>
    </dgm:pt>
    <dgm:pt modelId="{63B40CA6-A996-4A2A-829F-3D385C4F52AB}" type="pres">
      <dgm:prSet presAssocID="{CB944B95-AF4E-46D3-9214-1726CB30B5FE}" presName="text" presStyleLbl="fgAcc0" presStyleIdx="1" presStyleCnt="3">
        <dgm:presLayoutVars>
          <dgm:chPref val="3"/>
        </dgm:presLayoutVars>
      </dgm:prSet>
      <dgm:spPr/>
    </dgm:pt>
    <dgm:pt modelId="{E2D78CB3-E5B7-4EDB-AD75-BF33A6CB9777}" type="pres">
      <dgm:prSet presAssocID="{CB944B95-AF4E-46D3-9214-1726CB30B5FE}" presName="hierChild2" presStyleCnt="0"/>
      <dgm:spPr/>
    </dgm:pt>
    <dgm:pt modelId="{1BE9F790-FAA0-4FCC-B56D-33FDD2990E0E}" type="pres">
      <dgm:prSet presAssocID="{5B1DD226-79C0-4696-8BDF-BCC77AA67EDD}" presName="hierRoot1" presStyleCnt="0"/>
      <dgm:spPr/>
    </dgm:pt>
    <dgm:pt modelId="{9828FDAC-111C-4127-AEA3-B9A5708AE7F3}" type="pres">
      <dgm:prSet presAssocID="{5B1DD226-79C0-4696-8BDF-BCC77AA67EDD}" presName="composite" presStyleCnt="0"/>
      <dgm:spPr/>
    </dgm:pt>
    <dgm:pt modelId="{682C7B46-253B-44B4-B04C-BFC1DFABA454}" type="pres">
      <dgm:prSet presAssocID="{5B1DD226-79C0-4696-8BDF-BCC77AA67EDD}" presName="background" presStyleLbl="node0" presStyleIdx="2" presStyleCnt="3"/>
      <dgm:spPr/>
    </dgm:pt>
    <dgm:pt modelId="{E045E654-0DA9-4907-9B00-8607F5D88E76}" type="pres">
      <dgm:prSet presAssocID="{5B1DD226-79C0-4696-8BDF-BCC77AA67EDD}" presName="text" presStyleLbl="fgAcc0" presStyleIdx="2" presStyleCnt="3">
        <dgm:presLayoutVars>
          <dgm:chPref val="3"/>
        </dgm:presLayoutVars>
      </dgm:prSet>
      <dgm:spPr/>
    </dgm:pt>
    <dgm:pt modelId="{74E85ABB-DD13-4213-9567-1336563115BC}" type="pres">
      <dgm:prSet presAssocID="{5B1DD226-79C0-4696-8BDF-BCC77AA67EDD}" presName="hierChild2" presStyleCnt="0"/>
      <dgm:spPr/>
    </dgm:pt>
  </dgm:ptLst>
  <dgm:cxnLst>
    <dgm:cxn modelId="{0247B800-F587-4220-B475-E73AC4046ED6}" type="presOf" srcId="{EB95341E-8CB8-4184-9D7A-D0E0CACC78F8}" destId="{4CEC4827-9A40-4EB3-881F-F3FF032A773C}" srcOrd="0" destOrd="0" presId="urn:microsoft.com/office/officeart/2005/8/layout/hierarchy1"/>
    <dgm:cxn modelId="{77D3FF18-AF15-4BDC-B367-2AD9544264FE}" srcId="{1724F389-D501-4F2E-8890-462FD59C9C26}" destId="{5B1DD226-79C0-4696-8BDF-BCC77AA67EDD}" srcOrd="2" destOrd="0" parTransId="{3EEC3403-95C4-44E1-8D72-33DB5560283D}" sibTransId="{490BAEDF-34F0-4C80-9F0C-83C8193046D4}"/>
    <dgm:cxn modelId="{8B43425C-8446-4C30-9ADB-13D8ACFF26CF}" type="presOf" srcId="{CB944B95-AF4E-46D3-9214-1726CB30B5FE}" destId="{63B40CA6-A996-4A2A-829F-3D385C4F52AB}" srcOrd="0" destOrd="0" presId="urn:microsoft.com/office/officeart/2005/8/layout/hierarchy1"/>
    <dgm:cxn modelId="{39A74D71-8F0A-46D6-99CC-236845E82A8B}" type="presOf" srcId="{1724F389-D501-4F2E-8890-462FD59C9C26}" destId="{E26ECBDD-272C-4223-9E9F-B2B2FC3836A9}" srcOrd="0" destOrd="0" presId="urn:microsoft.com/office/officeart/2005/8/layout/hierarchy1"/>
    <dgm:cxn modelId="{938B86A8-6E45-4E8C-A04D-D80D6478D24A}" type="presOf" srcId="{5B1DD226-79C0-4696-8BDF-BCC77AA67EDD}" destId="{E045E654-0DA9-4907-9B00-8607F5D88E76}" srcOrd="0" destOrd="0" presId="urn:microsoft.com/office/officeart/2005/8/layout/hierarchy1"/>
    <dgm:cxn modelId="{E8B8E1F5-DAFF-4BCE-A2A6-ABB1A1D9F5F1}" srcId="{1724F389-D501-4F2E-8890-462FD59C9C26}" destId="{EB95341E-8CB8-4184-9D7A-D0E0CACC78F8}" srcOrd="0" destOrd="0" parTransId="{DB3E8D6D-BEF1-43A1-BE89-7EFB142BEA4A}" sibTransId="{F03460E1-BC7C-4FEA-B952-E71100AA245E}"/>
    <dgm:cxn modelId="{5FC304FF-96C0-4C34-838B-7FF694943867}" srcId="{1724F389-D501-4F2E-8890-462FD59C9C26}" destId="{CB944B95-AF4E-46D3-9214-1726CB30B5FE}" srcOrd="1" destOrd="0" parTransId="{993F6FFC-EA13-497D-9FC8-0B8527131F2B}" sibTransId="{8576DC1B-255B-47D1-81B0-F6D1576DB4D8}"/>
    <dgm:cxn modelId="{F0E97AA6-F6BF-40EC-BC19-9494B9A4672C}" type="presParOf" srcId="{E26ECBDD-272C-4223-9E9F-B2B2FC3836A9}" destId="{6E8A7154-C64E-4CA0-A41E-9AE735D91751}" srcOrd="0" destOrd="0" presId="urn:microsoft.com/office/officeart/2005/8/layout/hierarchy1"/>
    <dgm:cxn modelId="{259445B0-5001-4191-98E3-BB8995D8811D}" type="presParOf" srcId="{6E8A7154-C64E-4CA0-A41E-9AE735D91751}" destId="{4FAA1863-830A-4EA2-B623-08D0B63487AA}" srcOrd="0" destOrd="0" presId="urn:microsoft.com/office/officeart/2005/8/layout/hierarchy1"/>
    <dgm:cxn modelId="{460277A4-1796-42B4-879A-C22432AABB85}" type="presParOf" srcId="{4FAA1863-830A-4EA2-B623-08D0B63487AA}" destId="{E8593CF6-6F32-4007-BB5C-1E8AA7875F40}" srcOrd="0" destOrd="0" presId="urn:microsoft.com/office/officeart/2005/8/layout/hierarchy1"/>
    <dgm:cxn modelId="{2634DE24-96DA-4AEF-997B-801357C4CE81}" type="presParOf" srcId="{4FAA1863-830A-4EA2-B623-08D0B63487AA}" destId="{4CEC4827-9A40-4EB3-881F-F3FF032A773C}" srcOrd="1" destOrd="0" presId="urn:microsoft.com/office/officeart/2005/8/layout/hierarchy1"/>
    <dgm:cxn modelId="{B6F6DC9E-1D78-4420-8297-FF3B8F958D39}" type="presParOf" srcId="{6E8A7154-C64E-4CA0-A41E-9AE735D91751}" destId="{3EB5C96A-6A92-4C84-A1CE-81D23F76BB85}" srcOrd="1" destOrd="0" presId="urn:microsoft.com/office/officeart/2005/8/layout/hierarchy1"/>
    <dgm:cxn modelId="{30E38F2C-6872-44EF-80DF-DA622C7EA05F}" type="presParOf" srcId="{E26ECBDD-272C-4223-9E9F-B2B2FC3836A9}" destId="{4660C975-A32E-4F8E-9DDF-707EB1BA260C}" srcOrd="1" destOrd="0" presId="urn:microsoft.com/office/officeart/2005/8/layout/hierarchy1"/>
    <dgm:cxn modelId="{00A07A98-F7EA-4E04-A43E-114D14781B48}" type="presParOf" srcId="{4660C975-A32E-4F8E-9DDF-707EB1BA260C}" destId="{2A72D09E-85AC-4446-8284-D99E12405A26}" srcOrd="0" destOrd="0" presId="urn:microsoft.com/office/officeart/2005/8/layout/hierarchy1"/>
    <dgm:cxn modelId="{0C05ED1C-C02B-4659-ADA7-25364BB54BEC}" type="presParOf" srcId="{2A72D09E-85AC-4446-8284-D99E12405A26}" destId="{272CCC34-3A51-4188-8336-4B5C4CA14F3B}" srcOrd="0" destOrd="0" presId="urn:microsoft.com/office/officeart/2005/8/layout/hierarchy1"/>
    <dgm:cxn modelId="{BCB205E4-3086-4E9E-A822-C78EC2BD0693}" type="presParOf" srcId="{2A72D09E-85AC-4446-8284-D99E12405A26}" destId="{63B40CA6-A996-4A2A-829F-3D385C4F52AB}" srcOrd="1" destOrd="0" presId="urn:microsoft.com/office/officeart/2005/8/layout/hierarchy1"/>
    <dgm:cxn modelId="{2A987737-0D84-4BED-9937-B298262477CD}" type="presParOf" srcId="{4660C975-A32E-4F8E-9DDF-707EB1BA260C}" destId="{E2D78CB3-E5B7-4EDB-AD75-BF33A6CB9777}" srcOrd="1" destOrd="0" presId="urn:microsoft.com/office/officeart/2005/8/layout/hierarchy1"/>
    <dgm:cxn modelId="{993A2A3E-1395-47BB-9524-9683E805689E}" type="presParOf" srcId="{E26ECBDD-272C-4223-9E9F-B2B2FC3836A9}" destId="{1BE9F790-FAA0-4FCC-B56D-33FDD2990E0E}" srcOrd="2" destOrd="0" presId="urn:microsoft.com/office/officeart/2005/8/layout/hierarchy1"/>
    <dgm:cxn modelId="{94715F5A-633C-4717-AC2D-62392E2104F3}" type="presParOf" srcId="{1BE9F790-FAA0-4FCC-B56D-33FDD2990E0E}" destId="{9828FDAC-111C-4127-AEA3-B9A5708AE7F3}" srcOrd="0" destOrd="0" presId="urn:microsoft.com/office/officeart/2005/8/layout/hierarchy1"/>
    <dgm:cxn modelId="{021163F8-1757-4530-8871-DC6288CBA5BE}" type="presParOf" srcId="{9828FDAC-111C-4127-AEA3-B9A5708AE7F3}" destId="{682C7B46-253B-44B4-B04C-BFC1DFABA454}" srcOrd="0" destOrd="0" presId="urn:microsoft.com/office/officeart/2005/8/layout/hierarchy1"/>
    <dgm:cxn modelId="{E44A1686-87D7-472D-BB3E-2FE4EB6275A1}" type="presParOf" srcId="{9828FDAC-111C-4127-AEA3-B9A5708AE7F3}" destId="{E045E654-0DA9-4907-9B00-8607F5D88E76}" srcOrd="1" destOrd="0" presId="urn:microsoft.com/office/officeart/2005/8/layout/hierarchy1"/>
    <dgm:cxn modelId="{C3FC6880-EB10-4DB1-945E-41EB4754742C}" type="presParOf" srcId="{1BE9F790-FAA0-4FCC-B56D-33FDD2990E0E}" destId="{74E85ABB-DD13-4213-9567-1336563115B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190EF5-4D8D-4607-807D-C023A43ACF52}">
      <dsp:nvSpPr>
        <dsp:cNvPr id="0" name=""/>
        <dsp:cNvSpPr/>
      </dsp:nvSpPr>
      <dsp:spPr>
        <a:xfrm>
          <a:off x="22732" y="20958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45A8C-9A42-42B6-A4E9-E187687A6853}">
      <dsp:nvSpPr>
        <dsp:cNvPr id="0" name=""/>
        <dsp:cNvSpPr/>
      </dsp:nvSpPr>
      <dsp:spPr>
        <a:xfrm>
          <a:off x="194573" y="38142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90A3A-4CD0-4882-9254-9EEA80A2B7D7}">
      <dsp:nvSpPr>
        <dsp:cNvPr id="0" name=""/>
        <dsp:cNvSpPr/>
      </dsp:nvSpPr>
      <dsp:spPr>
        <a:xfrm>
          <a:off x="1016370" y="20958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ntake &amp; Validation (Power Apps)</a:t>
          </a:r>
          <a:endParaRPr lang="en-US" sz="1600" kern="1200"/>
        </a:p>
      </dsp:txBody>
      <dsp:txXfrm>
        <a:off x="1016370" y="209587"/>
        <a:ext cx="1928826" cy="818290"/>
      </dsp:txXfrm>
    </dsp:sp>
    <dsp:sp modelId="{31D895A0-B11D-4219-B1AA-08283F98E4EC}">
      <dsp:nvSpPr>
        <dsp:cNvPr id="0" name=""/>
        <dsp:cNvSpPr/>
      </dsp:nvSpPr>
      <dsp:spPr>
        <a:xfrm>
          <a:off x="3281281" y="20958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BBC85-F878-47C4-B6C4-2DABECDCA670}">
      <dsp:nvSpPr>
        <dsp:cNvPr id="0" name=""/>
        <dsp:cNvSpPr/>
      </dsp:nvSpPr>
      <dsp:spPr>
        <a:xfrm>
          <a:off x="3453122" y="38142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C892A6-99E4-48B4-AB10-1843E89EEB26}">
      <dsp:nvSpPr>
        <dsp:cNvPr id="0" name=""/>
        <dsp:cNvSpPr/>
      </dsp:nvSpPr>
      <dsp:spPr>
        <a:xfrm>
          <a:off x="4274919" y="20958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 will build a </a:t>
          </a:r>
          <a:r>
            <a:rPr lang="en-US" sz="1600" b="1" i="0" kern="1200" baseline="0"/>
            <a:t>Canvas App</a:t>
          </a:r>
          <a:r>
            <a:rPr lang="en-US" sz="1600" b="0" i="0" kern="1200" baseline="0"/>
            <a:t> for mobile and tablet use by customers.</a:t>
          </a:r>
          <a:endParaRPr lang="en-US" sz="1600" kern="1200"/>
        </a:p>
      </dsp:txBody>
      <dsp:txXfrm>
        <a:off x="4274919" y="209587"/>
        <a:ext cx="1928826" cy="818290"/>
      </dsp:txXfrm>
    </dsp:sp>
    <dsp:sp modelId="{45B665BF-5CAF-4ECE-9230-DAAA765D02CF}">
      <dsp:nvSpPr>
        <dsp:cNvPr id="0" name=""/>
        <dsp:cNvSpPr/>
      </dsp:nvSpPr>
      <dsp:spPr>
        <a:xfrm>
          <a:off x="22732" y="1768162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406D72-9ED6-4411-9958-B35EC0A1072E}">
      <dsp:nvSpPr>
        <dsp:cNvPr id="0" name=""/>
        <dsp:cNvSpPr/>
      </dsp:nvSpPr>
      <dsp:spPr>
        <a:xfrm>
          <a:off x="194573" y="1940003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A3BF4-C2A4-4374-9030-B7194AB3B846}">
      <dsp:nvSpPr>
        <dsp:cNvPr id="0" name=""/>
        <dsp:cNvSpPr/>
      </dsp:nvSpPr>
      <dsp:spPr>
        <a:xfrm>
          <a:off x="1016370" y="1768162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Form Design:</a:t>
          </a:r>
          <a:r>
            <a:rPr lang="en-US" sz="1600" b="0" i="0" kern="1200" baseline="0"/>
            <a:t> Includes fields for Personal Details, Loan Amount (e.g., $50,000), and a Loan Term dropdown.</a:t>
          </a:r>
          <a:endParaRPr lang="en-US" sz="1600" kern="1200"/>
        </a:p>
      </dsp:txBody>
      <dsp:txXfrm>
        <a:off x="1016370" y="1768162"/>
        <a:ext cx="1928826" cy="818290"/>
      </dsp:txXfrm>
    </dsp:sp>
    <dsp:sp modelId="{E29CA23F-E44F-48DC-80C4-261BE95BF2BF}">
      <dsp:nvSpPr>
        <dsp:cNvPr id="0" name=""/>
        <dsp:cNvSpPr/>
      </dsp:nvSpPr>
      <dsp:spPr>
        <a:xfrm>
          <a:off x="3281281" y="1768162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BC575B-841B-418C-8007-78E061107449}">
      <dsp:nvSpPr>
        <dsp:cNvPr id="0" name=""/>
        <dsp:cNvSpPr/>
      </dsp:nvSpPr>
      <dsp:spPr>
        <a:xfrm>
          <a:off x="3453122" y="1940003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8857D-35D3-406A-A7DB-510578D26F98}">
      <dsp:nvSpPr>
        <dsp:cNvPr id="0" name=""/>
        <dsp:cNvSpPr/>
      </dsp:nvSpPr>
      <dsp:spPr>
        <a:xfrm>
          <a:off x="4274919" y="1768162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Validation:</a:t>
          </a:r>
          <a:r>
            <a:rPr lang="en-US" sz="1600" b="0" i="0" kern="1200" baseline="0"/>
            <a:t> Logic added to the "Submit" button: If(IsBlank(DataCardValue), DisplayError).</a:t>
          </a:r>
          <a:endParaRPr lang="en-US" sz="1600" kern="1200"/>
        </a:p>
      </dsp:txBody>
      <dsp:txXfrm>
        <a:off x="4274919" y="1768162"/>
        <a:ext cx="1928826" cy="818290"/>
      </dsp:txXfrm>
    </dsp:sp>
    <dsp:sp modelId="{98E73DD4-F063-4F3D-B623-CEFB8D6B5B6B}">
      <dsp:nvSpPr>
        <dsp:cNvPr id="0" name=""/>
        <dsp:cNvSpPr/>
      </dsp:nvSpPr>
      <dsp:spPr>
        <a:xfrm>
          <a:off x="22732" y="3326737"/>
          <a:ext cx="818290" cy="81829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991B58-EF9A-45ED-BC0A-701F84EAA083}">
      <dsp:nvSpPr>
        <dsp:cNvPr id="0" name=""/>
        <dsp:cNvSpPr/>
      </dsp:nvSpPr>
      <dsp:spPr>
        <a:xfrm>
          <a:off x="194573" y="3498578"/>
          <a:ext cx="474608" cy="47460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E33C9-A7F7-4667-A78F-52C340D6F0BA}">
      <dsp:nvSpPr>
        <dsp:cNvPr id="0" name=""/>
        <dsp:cNvSpPr/>
      </dsp:nvSpPr>
      <dsp:spPr>
        <a:xfrm>
          <a:off x="1016370" y="3326737"/>
          <a:ext cx="1928826" cy="818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i="0" kern="1200" baseline="0"/>
            <a:t>Attachments:</a:t>
          </a:r>
          <a:r>
            <a:rPr lang="en-US" sz="1600" b="0" i="0" kern="1200" baseline="0"/>
            <a:t> An "Add Attachment" control specifically mapped to "ID" and "Proof of Income" requirements.</a:t>
          </a:r>
          <a:endParaRPr lang="en-US" sz="1600" kern="1200"/>
        </a:p>
      </dsp:txBody>
      <dsp:txXfrm>
        <a:off x="1016370" y="3326737"/>
        <a:ext cx="1928826" cy="818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D2FBF-E185-4804-A44D-52914F9C687B}">
      <dsp:nvSpPr>
        <dsp:cNvPr id="0" name=""/>
        <dsp:cNvSpPr/>
      </dsp:nvSpPr>
      <dsp:spPr>
        <a:xfrm>
          <a:off x="913852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0E6F0-7106-492C-ADF0-EE431ABFF0E6}">
      <dsp:nvSpPr>
        <dsp:cNvPr id="0" name=""/>
        <dsp:cNvSpPr/>
      </dsp:nvSpPr>
      <dsp:spPr>
        <a:xfrm>
          <a:off x="508281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Step C: Employee Review Portal (Power Pages)</a:t>
          </a:r>
          <a:endParaRPr lang="en-US" sz="1100" kern="1200"/>
        </a:p>
      </dsp:txBody>
      <dsp:txXfrm>
        <a:off x="508281" y="1155824"/>
        <a:ext cx="1474804" cy="848012"/>
      </dsp:txXfrm>
    </dsp:sp>
    <dsp:sp modelId="{D3E4D4C8-3A86-4744-93F0-7A4B8E5577C8}">
      <dsp:nvSpPr>
        <dsp:cNvPr id="0" name=""/>
        <dsp:cNvSpPr/>
      </dsp:nvSpPr>
      <dsp:spPr>
        <a:xfrm>
          <a:off x="2646748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F8F9C-36E6-4754-9E9D-63D269830A1E}">
      <dsp:nvSpPr>
        <dsp:cNvPr id="0" name=""/>
        <dsp:cNvSpPr/>
      </dsp:nvSpPr>
      <dsp:spPr>
        <a:xfrm>
          <a:off x="2241177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A secure </a:t>
          </a:r>
          <a:r>
            <a:rPr lang="en-US" sz="1100" b="1" i="0" kern="1200" baseline="0"/>
            <a:t>Power Pages Portal</a:t>
          </a:r>
          <a:r>
            <a:rPr lang="en-US" sz="1100" b="0" i="0" kern="1200" baseline="0"/>
            <a:t> will be created for bank employees:</a:t>
          </a:r>
          <a:endParaRPr lang="en-US" sz="1100" kern="1200"/>
        </a:p>
      </dsp:txBody>
      <dsp:txXfrm>
        <a:off x="2241177" y="1155824"/>
        <a:ext cx="1474804" cy="848012"/>
      </dsp:txXfrm>
    </dsp:sp>
    <dsp:sp modelId="{34BE9781-7505-4DC2-91AA-7A3ABCCEDB14}">
      <dsp:nvSpPr>
        <dsp:cNvPr id="0" name=""/>
        <dsp:cNvSpPr/>
      </dsp:nvSpPr>
      <dsp:spPr>
        <a:xfrm>
          <a:off x="4379643" y="225220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0FB1FF-C808-40D8-B85E-A176B9B6D37C}">
      <dsp:nvSpPr>
        <dsp:cNvPr id="0" name=""/>
        <dsp:cNvSpPr/>
      </dsp:nvSpPr>
      <dsp:spPr>
        <a:xfrm>
          <a:off x="3974072" y="1155824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Queue Management:</a:t>
          </a:r>
          <a:r>
            <a:rPr lang="en-US" sz="1100" b="0" i="0" kern="1200" baseline="0"/>
            <a:t> Employees can filter by "Submitted" or "Under Review" status.</a:t>
          </a:r>
          <a:endParaRPr lang="en-US" sz="1100" kern="1200"/>
        </a:p>
      </dsp:txBody>
      <dsp:txXfrm>
        <a:off x="3974072" y="1155824"/>
        <a:ext cx="1474804" cy="848012"/>
      </dsp:txXfrm>
    </dsp:sp>
    <dsp:sp modelId="{1EE17B83-D132-4577-A8F8-7B1D5F9B13B8}">
      <dsp:nvSpPr>
        <dsp:cNvPr id="0" name=""/>
        <dsp:cNvSpPr/>
      </dsp:nvSpPr>
      <dsp:spPr>
        <a:xfrm>
          <a:off x="2646748" y="2372538"/>
          <a:ext cx="663662" cy="6636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10BD39-627C-449F-A0C8-2FF0FF560C56}">
      <dsp:nvSpPr>
        <dsp:cNvPr id="0" name=""/>
        <dsp:cNvSpPr/>
      </dsp:nvSpPr>
      <dsp:spPr>
        <a:xfrm>
          <a:off x="2241177" y="3303142"/>
          <a:ext cx="1474804" cy="8480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 dirty="0"/>
            <a:t>Decision Engine:</a:t>
          </a:r>
          <a:r>
            <a:rPr lang="en-US" sz="1100" b="0" i="0" kern="1200" baseline="0" dirty="0"/>
            <a:t> Buttons to "Approve" or "Reject." Upon approval, the "End Date" is automatically stamped with the current date to track processing time.</a:t>
          </a:r>
          <a:endParaRPr lang="en-US" sz="1100" kern="1200" dirty="0"/>
        </a:p>
      </dsp:txBody>
      <dsp:txXfrm>
        <a:off x="2241177" y="3303142"/>
        <a:ext cx="1474804" cy="848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72782D-E231-4F15-9843-8B7C579B0E8A}">
      <dsp:nvSpPr>
        <dsp:cNvPr id="0" name=""/>
        <dsp:cNvSpPr/>
      </dsp:nvSpPr>
      <dsp:spPr>
        <a:xfrm>
          <a:off x="0" y="0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Metrics to track</a:t>
          </a:r>
          <a:r>
            <a:rPr lang="en-US" sz="2800" kern="1200" dirty="0"/>
            <a:t>:</a:t>
          </a:r>
        </a:p>
      </dsp:txBody>
      <dsp:txXfrm>
        <a:off x="42095" y="42095"/>
        <a:ext cx="5097410" cy="778122"/>
      </dsp:txXfrm>
    </dsp:sp>
    <dsp:sp modelId="{F3723665-05A0-4AD0-9C55-5B3EC266D53F}">
      <dsp:nvSpPr>
        <dsp:cNvPr id="0" name=""/>
        <dsp:cNvSpPr/>
      </dsp:nvSpPr>
      <dsp:spPr>
        <a:xfrm>
          <a:off x="0" y="872946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Total applications, approved, rejected, under review.</a:t>
          </a:r>
        </a:p>
      </dsp:txBody>
      <dsp:txXfrm>
        <a:off x="42095" y="915041"/>
        <a:ext cx="5097410" cy="778122"/>
      </dsp:txXfrm>
    </dsp:sp>
    <dsp:sp modelId="{271D8BE3-955D-43C8-B4BA-C912E31B4837}">
      <dsp:nvSpPr>
        <dsp:cNvPr id="0" name=""/>
        <dsp:cNvSpPr/>
      </dsp:nvSpPr>
      <dsp:spPr>
        <a:xfrm>
          <a:off x="0" y="1744512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Average processing time: End Date - Application Date.</a:t>
          </a:r>
        </a:p>
      </dsp:txBody>
      <dsp:txXfrm>
        <a:off x="42095" y="1786607"/>
        <a:ext cx="5097410" cy="778122"/>
      </dsp:txXfrm>
    </dsp:sp>
    <dsp:sp modelId="{332B8530-1070-408F-894C-84145EED585D}">
      <dsp:nvSpPr>
        <dsp:cNvPr id="0" name=""/>
        <dsp:cNvSpPr/>
      </dsp:nvSpPr>
      <dsp:spPr>
        <a:xfrm>
          <a:off x="0" y="2616078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Loan trends: total loan amount per month, approval rate per loan amount range.</a:t>
          </a:r>
        </a:p>
      </dsp:txBody>
      <dsp:txXfrm>
        <a:off x="42095" y="2658173"/>
        <a:ext cx="5097410" cy="778122"/>
      </dsp:txXfrm>
    </dsp:sp>
    <dsp:sp modelId="{6D798E98-FC2C-4BD8-939F-0482DDA68D8E}">
      <dsp:nvSpPr>
        <dsp:cNvPr id="0" name=""/>
        <dsp:cNvSpPr/>
      </dsp:nvSpPr>
      <dsp:spPr>
        <a:xfrm>
          <a:off x="0" y="3487644"/>
          <a:ext cx="5181600" cy="8623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Attachments verification rate.</a:t>
          </a:r>
        </a:p>
      </dsp:txBody>
      <dsp:txXfrm>
        <a:off x="42095" y="3529739"/>
        <a:ext cx="5097410" cy="77812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93CF6-6F32-4007-BB5C-1E8AA7875F40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4827-9A40-4EB3-881F-F3FF032A773C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Digital Signatures:</a:t>
          </a:r>
          <a:r>
            <a:rPr lang="en-US" sz="2900" kern="1200"/>
            <a:t> It is assumed that the physical signature "+())</a:t>
          </a:r>
          <a:r>
            <a:rPr lang="en-US" sz="2900" i="1" kern="1200"/>
            <a:t>(</a:t>
          </a:r>
          <a:r>
            <a:rPr lang="en-US" sz="2900" kern="1200"/>
            <a:t>(&amp;*&amp;" will be replaced by an authenticated Power Platform digital signature.</a:t>
          </a:r>
        </a:p>
      </dsp:txBody>
      <dsp:txXfrm>
        <a:off x="608661" y="692298"/>
        <a:ext cx="4508047" cy="2799040"/>
      </dsp:txXfrm>
    </dsp:sp>
    <dsp:sp modelId="{CC84C5DC-7AA4-40C1-9BF5-FB82750032DF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0C4B4-FE19-48CC-B6E2-0FE2E15F82E7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Environment:</a:t>
          </a:r>
          <a:r>
            <a:rPr lang="en-US" sz="2900" kern="1200"/>
            <a:t> The solution assumes a Power Apps per-user license is available for the 50 initial records and future growth..</a:t>
          </a:r>
        </a:p>
      </dsp:txBody>
      <dsp:txXfrm>
        <a:off x="6331365" y="692298"/>
        <a:ext cx="4508047" cy="2799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593CF6-6F32-4007-BB5C-1E8AA7875F40}">
      <dsp:nvSpPr>
        <dsp:cNvPr id="0" name=""/>
        <dsp:cNvSpPr/>
      </dsp:nvSpPr>
      <dsp:spPr>
        <a:xfrm>
          <a:off x="75145" y="770470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C4827-9A40-4EB3-881F-F3FF032A773C}">
      <dsp:nvSpPr>
        <dsp:cNvPr id="0" name=""/>
        <dsp:cNvSpPr/>
      </dsp:nvSpPr>
      <dsp:spPr>
        <a:xfrm>
          <a:off x="416640" y="1094890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Integrate </a:t>
          </a:r>
          <a:r>
            <a:rPr lang="en-US" sz="2300" b="1" kern="1200" dirty="0"/>
            <a:t>Power Virtual Agent</a:t>
          </a:r>
          <a:r>
            <a:rPr lang="en-US" sz="2300" kern="1200" dirty="0"/>
            <a:t> chatbot for customer queries.</a:t>
          </a:r>
        </a:p>
      </dsp:txBody>
      <dsp:txXfrm>
        <a:off x="473802" y="1152052"/>
        <a:ext cx="2959127" cy="1837317"/>
      </dsp:txXfrm>
    </dsp:sp>
    <dsp:sp modelId="{272CCC34-3A51-4188-8336-4B5C4CA14F3B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40CA6-A996-4A2A-829F-3D385C4F52AB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Use AI Builder to extract fields from uploaded PDF (e.g., loan amount, customer name).</a:t>
          </a:r>
          <a:endParaRPr lang="en-CA" sz="2300" kern="1200" dirty="0"/>
        </a:p>
      </dsp:txBody>
      <dsp:txXfrm>
        <a:off x="4155097" y="1088253"/>
        <a:ext cx="2959127" cy="1837317"/>
      </dsp:txXfrm>
    </dsp:sp>
    <dsp:sp modelId="{682C7B46-253B-44B4-B04C-BFC1DFABA45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45E654-0DA9-4907-9B00-8607F5D88E76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Set up </a:t>
          </a:r>
          <a:r>
            <a:rPr lang="en-US" sz="2300" b="1" kern="1200"/>
            <a:t>alerts for high-value loans</a:t>
          </a:r>
          <a:endParaRPr lang="en-US" sz="2300" kern="1200"/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CC3F0-38BA-448A-B0F7-161F5BAD79E5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C7D042-5618-49AF-A0B3-F761801A43F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450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C7D042-5618-49AF-A0B3-F761801A43FE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8547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14602-2D01-998A-192B-4CCE46193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6BFE2-C675-614A-4A91-B188C039D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8BA29-1315-42B0-1247-0B1831AF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A9065-9812-7AA4-DE2B-41FC397C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6DE5B-867E-B9B6-0209-9EF1213A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096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52F86-85E3-D434-FCC4-12046BB32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815B3-5D4A-C282-7EA9-EF51B066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D8B58-2A5B-B6E3-20BD-E5512A45A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B2A13-2D59-12D9-9987-1A968FA26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3D8F7-F09D-D362-6AD4-DA1FDC892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0113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264CA-3C4C-935C-BE13-8006D57CB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F2F66-22A0-2564-CFCE-9AC4A08DE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B860F-C42C-4EBC-F736-E1C6DEE1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A8D3B-224B-5D42-859E-FD19E45CE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ED2AE-0E02-86D0-A2B9-A896F521B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4566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F01F-0EC7-E58B-770A-4EA1496A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7B575-DB11-EE7D-5982-7B20D8A75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B80F7-9D47-16BF-572A-7EBDBEEBB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BCB62-B979-27EB-6CDC-D8E8C6910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10C3-E1E4-0148-FDA2-53BEAB84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17D46-BB48-D0D7-E048-78F06189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9670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5D722-3655-46B6-79A4-57CA80A90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6C811-28A5-D252-B127-0C8D2A751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E0635B-FF06-2C12-9EB5-7807372265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6EB6EB-7397-96A6-DCA2-25F3DBCC8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BC219-9610-7C75-D67F-1651F69C10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78B1BD-96FB-FF1E-E16B-CFC80062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4887A4-265C-69D7-6D4C-3E6684C14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6FB25C-6370-4237-1914-D52F7F689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75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B62F9-9DE3-8288-F1A6-329C90D7B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7289A-6E0B-C577-8005-5AEC70883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99D7F-9074-99FF-6BF4-36F46B76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94A47D-6848-AC85-5505-B7B75841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0985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B1160C-8B40-1763-495D-D16C5B36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A7754-DD04-3FC0-B617-AE133468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9467D-5F7C-3AFD-D1FD-35E0D4A0F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267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71D7-D701-AE29-4178-DA65A721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39931-309F-6C47-61E6-DE24F8DBB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606FF-A080-03FC-4D6C-3B60D3CBF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B50D8-F2FF-9B06-BB69-D77D87068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59097-D3E2-F934-62D0-75510EA1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4C0AE-1937-ED80-EEBA-727853003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0999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2BE2-6B53-5575-575A-9A4BE95E6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FCEC9-988F-1C2C-3ACF-51751F08D1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C2BD6-BD45-8B45-1F9D-59AE56C34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54FA9-BB6B-AA5A-C529-AD20FDC7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D1130-6FBB-91DC-7D74-CB5B28A1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E36D8-9A97-A172-AAA1-891E9A2A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9494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111F2-1F87-6B94-14D9-71533F359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33120-5225-D8F1-81DD-73E2CF7D2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8B001-E2E7-D88D-DE3F-15249A12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61CAE-BBAF-AE01-1A11-C7CB8B182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7CE4-75A1-9E73-D3A8-445D35D8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16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8257B7-6278-8A9A-CA2A-BF76E79B6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7CAEC-E8F2-A4FC-B45C-DF6BE49778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3AAFF-D779-6043-AD93-F48CCBEC1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35017-2F6A-7E61-CF59-148A0A537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2C8D7-E0D1-8151-E4C1-9557677F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315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15260F-67E1-5EFA-61D4-B9F029AF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C69AA-5EBF-6A61-45FB-6CB17DA82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3B31E-102D-375A-49A4-BC3A36DC1F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F3966-8E51-4E4A-B944-E45DD7F2FA09}" type="datetimeFigureOut">
              <a:rPr lang="en-CA" smtClean="0"/>
              <a:t>2026-06-19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6336DE-7B97-DCDA-D04F-F3DFB45DC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65C11-7D07-F576-808E-B3F472B2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791D-A766-4EE3-A462-18C47DA9D2E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15475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64BA0-268E-2D78-8F7B-E4D4EAD5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6A111-BCF1-192C-4B6C-6688656AA34D}"/>
              </a:ext>
            </a:extLst>
          </p:cNvPr>
          <p:cNvSpPr txBox="1"/>
          <p:nvPr/>
        </p:nvSpPr>
        <p:spPr>
          <a:xfrm>
            <a:off x="247142" y="2560135"/>
            <a:ext cx="3542178" cy="10598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CIBC Consultant Interview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Candidate: Atsu Vovor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427F39B-41EF-DC39-4CBE-4F174B56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573" y="620368"/>
            <a:ext cx="3356975" cy="1656056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>
                <a:solidFill>
                  <a:srgbClr val="FFFFFF"/>
                </a:solidFill>
              </a:rPr>
              <a:t>Loan Application Digitization Solution 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84006B-3193-E552-7EAF-1D4E0A2C1281}"/>
              </a:ext>
            </a:extLst>
          </p:cNvPr>
          <p:cNvSpPr txBox="1"/>
          <p:nvPr/>
        </p:nvSpPr>
        <p:spPr>
          <a:xfrm>
            <a:off x="293396" y="3429000"/>
            <a:ext cx="3339152" cy="125573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Role: Consultant – Automation &amp; Analytics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endParaRPr lang="en-US" sz="2100" b="1" dirty="0">
              <a:solidFill>
                <a:srgbClr val="FFFFFF"/>
              </a:solidFill>
            </a:endParaRP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Date: 02/03/2026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499CF1-0D85-1901-C80F-F933CB57B7B1}"/>
              </a:ext>
            </a:extLst>
          </p:cNvPr>
          <p:cNvSpPr txBox="1"/>
          <p:nvPr/>
        </p:nvSpPr>
        <p:spPr>
          <a:xfrm>
            <a:off x="5214453" y="324491"/>
            <a:ext cx="53667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Scenario Overview</a:t>
            </a:r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BF9312-7D65-28D6-8987-E11F053399D2}"/>
              </a:ext>
            </a:extLst>
          </p:cNvPr>
          <p:cNvSpPr txBox="1"/>
          <p:nvPr/>
        </p:nvSpPr>
        <p:spPr>
          <a:xfrm>
            <a:off x="4559219" y="1040188"/>
            <a:ext cx="5531481" cy="129266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Problem</a:t>
            </a:r>
            <a:endParaRPr lang="en-US" sz="2400" dirty="0"/>
          </a:p>
          <a:p>
            <a:r>
              <a:rPr lang="en-US" dirty="0"/>
              <a:t>Manual paper-based loan applications</a:t>
            </a:r>
          </a:p>
          <a:p>
            <a:r>
              <a:rPr lang="en-US" dirty="0"/>
              <a:t>High processing time and risk of errors</a:t>
            </a:r>
          </a:p>
          <a:p>
            <a:r>
              <a:rPr lang="en-US" dirty="0"/>
              <a:t>Limited tracking and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D4B377-A777-D916-2D2D-79409618C037}"/>
              </a:ext>
            </a:extLst>
          </p:cNvPr>
          <p:cNvSpPr txBox="1"/>
          <p:nvPr/>
        </p:nvSpPr>
        <p:spPr>
          <a:xfrm>
            <a:off x="4486017" y="2594694"/>
            <a:ext cx="5647539" cy="120032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Objective</a:t>
            </a:r>
            <a:endParaRPr lang="en-US" sz="2400" dirty="0"/>
          </a:p>
          <a:p>
            <a:r>
              <a:rPr lang="en-US" sz="1600" dirty="0"/>
              <a:t>Digitize loan applications using Power Platform, </a:t>
            </a:r>
          </a:p>
          <a:p>
            <a:r>
              <a:rPr lang="en-US" sz="1600" dirty="0"/>
              <a:t>Automate validation, notifications, and approvals</a:t>
            </a:r>
          </a:p>
          <a:p>
            <a:r>
              <a:rPr lang="en-US" sz="1600" dirty="0"/>
              <a:t>Provide real-time dashboards for insights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CCAB6E-E2E1-DB34-EB10-D442A2334F37}"/>
              </a:ext>
            </a:extLst>
          </p:cNvPr>
          <p:cNvSpPr txBox="1"/>
          <p:nvPr/>
        </p:nvSpPr>
        <p:spPr>
          <a:xfrm>
            <a:off x="4486017" y="4056867"/>
            <a:ext cx="5647539" cy="200054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Data Sources</a:t>
            </a:r>
          </a:p>
          <a:p>
            <a:r>
              <a:rPr lang="en-US" sz="1600" b="1" dirty="0"/>
              <a:t>Dataset:</a:t>
            </a:r>
            <a:r>
              <a:rPr lang="en-US" sz="1600" dirty="0"/>
              <a:t> </a:t>
            </a:r>
            <a:r>
              <a:rPr lang="en-US" dirty="0"/>
              <a:t>Loan App Data.csv</a:t>
            </a:r>
            <a:endParaRPr lang="en-US" sz="1600" dirty="0"/>
          </a:p>
          <a:p>
            <a:r>
              <a:rPr lang="en-US" sz="1600" dirty="0"/>
              <a:t>50 sample applications with fields like ID, Customer Name, Loan Amount, Status, Attachments</a:t>
            </a:r>
          </a:p>
          <a:p>
            <a:r>
              <a:rPr lang="en-US" sz="1600" b="1" dirty="0"/>
              <a:t>Sample PDF:</a:t>
            </a:r>
            <a:r>
              <a:rPr lang="en-US" sz="1600" dirty="0"/>
              <a:t> </a:t>
            </a:r>
            <a:r>
              <a:rPr lang="en-US" dirty="0"/>
              <a:t>Sample Application.pdf</a:t>
            </a:r>
            <a:endParaRPr lang="en-US" sz="1600" dirty="0"/>
          </a:p>
          <a:p>
            <a:r>
              <a:rPr lang="en-US" sz="1600" dirty="0"/>
              <a:t>Contains personal details, loan requested, supporting documents, and approver info</a:t>
            </a: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71ACF625-9B92-B3B4-B1F8-78F9A10ADBC9}"/>
              </a:ext>
            </a:extLst>
          </p:cNvPr>
          <p:cNvSpPr/>
          <p:nvPr/>
        </p:nvSpPr>
        <p:spPr>
          <a:xfrm>
            <a:off x="10283868" y="3620022"/>
            <a:ext cx="853857" cy="20005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35404FFB-0F8F-1D82-6A66-2D3BF462D5E2}"/>
              </a:ext>
            </a:extLst>
          </p:cNvPr>
          <p:cNvSpPr/>
          <p:nvPr/>
        </p:nvSpPr>
        <p:spPr>
          <a:xfrm>
            <a:off x="10308920" y="1594420"/>
            <a:ext cx="853857" cy="20005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309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F2FB4D-B88F-25D6-5B3B-F486B6B8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00D78CD-EB47-5CD4-81F0-0665FD815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4B1A94-C841-A5AE-D94B-EF5F8F58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631AD96-EDAE-4DE4-B242-FEFDC65BA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8C3C03-7AB2-F59C-C306-552B99823C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2" r="2665" b="-1"/>
          <a:stretch>
            <a:fillRect/>
          </a:stretch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C6ED48B-2502-691B-1691-871719018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64CF49-86E0-E844-3767-091475CC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41" y="19184"/>
            <a:ext cx="3542179" cy="119513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r"/>
            <a:br>
              <a:rPr lang="en-US" sz="3200" b="1" dirty="0">
                <a:solidFill>
                  <a:srgbClr val="FFFFFF"/>
                </a:solidFill>
              </a:rPr>
            </a:br>
            <a:r>
              <a:rPr lang="en-US" sz="3200" b="1" dirty="0">
                <a:solidFill>
                  <a:srgbClr val="FFFFFF"/>
                </a:solidFill>
              </a:rPr>
              <a:t>Proposed Power Platform Solution</a:t>
            </a: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3200" b="1" dirty="0">
                <a:solidFill>
                  <a:srgbClr val="FFFFFF"/>
                </a:solidFill>
              </a:rPr>
            </a:br>
            <a:endParaRPr lang="en-US" sz="3200" b="1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90AA9-68F2-84F1-4073-ECDF08A2359F}"/>
              </a:ext>
            </a:extLst>
          </p:cNvPr>
          <p:cNvSpPr txBox="1"/>
          <p:nvPr/>
        </p:nvSpPr>
        <p:spPr>
          <a:xfrm>
            <a:off x="275573" y="1590805"/>
            <a:ext cx="3542178" cy="419621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3300" b="1" dirty="0">
                <a:solidFill>
                  <a:srgbClr val="FFFFFF"/>
                </a:solidFill>
              </a:rPr>
              <a:t>Assumptions Made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Security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100" b="1" dirty="0">
                <a:solidFill>
                  <a:srgbClr val="FFFFFF"/>
                </a:solidFill>
              </a:rPr>
              <a:t> External customers only have access to their own records via the Portal, while Employees have global read/write access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Environment: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100" b="1" dirty="0">
                <a:solidFill>
                  <a:srgbClr val="FFFFFF"/>
                </a:solidFill>
              </a:rPr>
              <a:t>The solution will be housed in a Production Environment with Dataverse capacity enabled</a:t>
            </a:r>
            <a:r>
              <a:rPr lang="en-US" sz="2000" b="1" dirty="0">
                <a:solidFill>
                  <a:srgbClr val="FFFFFF"/>
                </a:solidFill>
              </a:rPr>
              <a:t>.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800" b="1" dirty="0">
                <a:solidFill>
                  <a:srgbClr val="FFFFFF"/>
                </a:solidFill>
              </a:rPr>
              <a:t>Migration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100" b="1" dirty="0">
                <a:solidFill>
                  <a:srgbClr val="FFFFFF"/>
                </a:solidFill>
              </a:rPr>
              <a:t>Historical data from the Loan App Data.csv will be bulk-imported using the Dataverse "Import from Excel" tool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290972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7B459-8408-8089-82B0-93C6DB34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C7E0A-C492-AAAD-714D-2894374B1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System Architecture</a:t>
            </a:r>
            <a:b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C7445-85D1-5388-5B43-B51D792E4639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Solution Overview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F6B67-4019-B033-D13C-D5A180CF652F}"/>
              </a:ext>
            </a:extLst>
          </p:cNvPr>
          <p:cNvSpPr txBox="1"/>
          <p:nvPr/>
        </p:nvSpPr>
        <p:spPr>
          <a:xfrm>
            <a:off x="699713" y="1798070"/>
            <a:ext cx="1026056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Data Layer (Dataverse)</a:t>
            </a:r>
            <a:endParaRPr lang="en-US" sz="2400" dirty="0"/>
          </a:p>
          <a:p>
            <a:pPr lvl="1"/>
            <a:r>
              <a:rPr lang="en-US" sz="1600" dirty="0"/>
              <a:t>A relational database hosting the </a:t>
            </a:r>
            <a:r>
              <a:rPr lang="en-US" sz="1600" dirty="0">
                <a:latin typeface="Courier New" panose="02070309020205020404" pitchFamily="49" charset="0"/>
              </a:rPr>
              <a:t>Loan Application</a:t>
            </a:r>
            <a:r>
              <a:rPr lang="en-US" sz="1600" dirty="0"/>
              <a:t> table. This includes all fields from the CSV (e.g., </a:t>
            </a:r>
            <a:r>
              <a:rPr lang="en-US" sz="1600" dirty="0">
                <a:latin typeface="Courier New" panose="02070309020205020404" pitchFamily="49" charset="0"/>
              </a:rPr>
              <a:t>APP001</a:t>
            </a:r>
            <a:r>
              <a:rPr lang="en-US" sz="1600" dirty="0"/>
              <a:t>) and the PDF (e.g., </a:t>
            </a:r>
            <a:r>
              <a:rPr lang="en-US" sz="1600" dirty="0">
                <a:latin typeface="Courier New" panose="02070309020205020404" pitchFamily="49" charset="0"/>
              </a:rPr>
              <a:t>Loan Term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</a:rPr>
              <a:t>Address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Intake Layer (Power Apps)</a:t>
            </a:r>
            <a:endParaRPr lang="en-US" sz="2400" dirty="0"/>
          </a:p>
          <a:p>
            <a:pPr lvl="1"/>
            <a:r>
              <a:rPr lang="en-US" sz="1600" dirty="0"/>
              <a:t>A Canvas App for customers to submit details and upload "ID" and "Proof of Income" documents.</a:t>
            </a:r>
          </a:p>
          <a:p>
            <a:pPr lvl="1"/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Automation Layer (Power Automate)</a:t>
            </a:r>
            <a:endParaRPr lang="en-US" sz="2400" dirty="0"/>
          </a:p>
          <a:p>
            <a:pPr lvl="1"/>
            <a:r>
              <a:rPr lang="en-US" sz="1600" dirty="0"/>
              <a:t>* </a:t>
            </a:r>
            <a:r>
              <a:rPr lang="en-US" sz="1600" i="1" dirty="0"/>
              <a:t>Acknowledgment Flow:</a:t>
            </a:r>
            <a:r>
              <a:rPr lang="en-US" sz="1600" dirty="0"/>
              <a:t> Sends instant emails upon submission.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i="1" dirty="0"/>
              <a:t>Approval Flow:</a:t>
            </a:r>
            <a:r>
              <a:rPr lang="en-US" sz="1600" dirty="0"/>
              <a:t> Routes requests to "Officer 1" (D J Tram).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Review Layer (Power Pages)</a:t>
            </a:r>
            <a:endParaRPr lang="en-US" sz="2400" dirty="0"/>
          </a:p>
          <a:p>
            <a:pPr lvl="1"/>
            <a:r>
              <a:rPr lang="en-US" sz="1600" dirty="0"/>
              <a:t>A secure portal for bank employees to manage the queue and update application statuses.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b="1" dirty="0"/>
              <a:t>Analytics Layer (Power BI)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 dashboard tracking </a:t>
            </a:r>
            <a:r>
              <a:rPr lang="en-US" sz="1600" b="1" dirty="0"/>
              <a:t>Approval Rates</a:t>
            </a:r>
            <a:r>
              <a:rPr lang="en-US" sz="1600" dirty="0"/>
              <a:t> and </a:t>
            </a:r>
            <a:r>
              <a:rPr lang="en-US" sz="1600" b="1" dirty="0"/>
              <a:t>Processing Times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262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9319C4-625A-D463-F0C4-327D1084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61B10BA-188D-DA97-18EE-728ECD603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F395F-6B18-5514-0AD1-23174B571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FD2297-02C3-8BBE-038B-DCD0A0D46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74AA65-CC47-02C0-1A35-3B97FB6F7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38D7DB-CAD3-89D7-51EB-FD1498300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Sources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500" b="1" dirty="0">
                <a:solidFill>
                  <a:srgbClr val="FFFFFF"/>
                </a:solidFill>
              </a:rPr>
              <a:t>Data Gap Analysis &amp; Schema Alignment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10862-2E87-A503-4F76-617811AE72AD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Reconciling "Sample Application.pdf" with "Loan App Data.csv"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5FADCB-994A-1E79-8651-AC430AF94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6421"/>
              </p:ext>
            </p:extLst>
          </p:nvPr>
        </p:nvGraphicFramePr>
        <p:xfrm>
          <a:off x="432225" y="2128935"/>
          <a:ext cx="11327552" cy="4216121"/>
        </p:xfrm>
        <a:graphic>
          <a:graphicData uri="http://schemas.openxmlformats.org/drawingml/2006/table">
            <a:tbl>
              <a:tblPr firstRow="1">
                <a:tableStyleId>{8799B23B-EC83-4686-B30A-512413B5E67A}</a:tableStyleId>
              </a:tblPr>
              <a:tblGrid>
                <a:gridCol w="1968210">
                  <a:extLst>
                    <a:ext uri="{9D8B030D-6E8A-4147-A177-3AD203B41FA5}">
                      <a16:colId xmlns:a16="http://schemas.microsoft.com/office/drawing/2014/main" val="3008323933"/>
                    </a:ext>
                  </a:extLst>
                </a:gridCol>
                <a:gridCol w="1425501">
                  <a:extLst>
                    <a:ext uri="{9D8B030D-6E8A-4147-A177-3AD203B41FA5}">
                      <a16:colId xmlns:a16="http://schemas.microsoft.com/office/drawing/2014/main" val="989069745"/>
                    </a:ext>
                  </a:extLst>
                </a:gridCol>
                <a:gridCol w="1295909">
                  <a:extLst>
                    <a:ext uri="{9D8B030D-6E8A-4147-A177-3AD203B41FA5}">
                      <a16:colId xmlns:a16="http://schemas.microsoft.com/office/drawing/2014/main" val="2182684117"/>
                    </a:ext>
                  </a:extLst>
                </a:gridCol>
                <a:gridCol w="6637932">
                  <a:extLst>
                    <a:ext uri="{9D8B030D-6E8A-4147-A177-3AD203B41FA5}">
                      <a16:colId xmlns:a16="http://schemas.microsoft.com/office/drawing/2014/main" val="2891919112"/>
                    </a:ext>
                  </a:extLst>
                </a:gridCol>
              </a:tblGrid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Field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Found in CSV?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Found in PDF?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Implementation Action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363926833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ID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Primary Name Column: Set as Autonumber (e.g., APP-0000).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051004554"/>
                  </a:ext>
                </a:extLst>
              </a:tr>
              <a:tr h="47133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Customer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Columns: Create separate First Name and Last Name to match PDF structure.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293612107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Amount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Currency Column: Minimum/Maximum values set for validation.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32440043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Status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 Column: Options: Submitted, Under Review, Approved, Rejected.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660652841"/>
                  </a:ext>
                </a:extLst>
              </a:tr>
              <a:tr h="350342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Address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Area Column: Multiline text to capture full address details.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730621717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Term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 Column: Dropdown with values (e.g., 1 yr, 3 yrs, 5 yrs).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041620958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Interest Rate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 dirty="0">
                          <a:effectLst/>
                        </a:rPr>
                        <a:t>Decimal Column: Precision set to 2 decimal places (Percentage).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6826625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Name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Lookup Column: Link to the Users table for internal accountability.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023193859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Position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Text Column: Captures the title of the reviewing officer (e.g., Officer 1).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4137027261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Date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Date Only Column: User Local behavior; Defaults to Created On.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14274238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End Date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Date Only Column: Populated via Flow when status changes to Final.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2644975872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Document Provided: ID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File Column: Specifically for ID upload; restricted to image/PDF.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909289889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Document Provided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Choice/Multiselect: Captures types (e.g., Proof of Income, Tax Returns).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3238832376"/>
                  </a:ext>
                </a:extLst>
              </a:tr>
              <a:tr h="26111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Signature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❌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✅</a:t>
                      </a:r>
                    </a:p>
                  </a:txBody>
                  <a:tcPr marL="6630" marR="6630" marT="4420" marB="4420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Image Column: Enabled for "Pen Input" in the Canvas App/Portal.</a:t>
                      </a:r>
                    </a:p>
                  </a:txBody>
                  <a:tcPr marL="6630" marR="6630" marT="4420" marB="4420" anchor="b"/>
                </a:tc>
                <a:extLst>
                  <a:ext uri="{0D108BD9-81ED-4DB2-BD59-A6C34878D82A}">
                    <a16:rowId xmlns:a16="http://schemas.microsoft.com/office/drawing/2014/main" val="196418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4450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D22B2-10BA-277A-59F1-ED141AC5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828D7B2-7C2B-27CF-3C2D-320D6AC232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0300BF-4493-697C-FF21-B8DE2E69D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6FA09B-4730-6F07-AD6F-E27D54D8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4B1F1B-056F-D9DF-B24B-B903F1DFB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DEA8E-3B50-B1F5-ADF6-0F0209BC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Dataverse Table Schema</a:t>
            </a:r>
            <a:br>
              <a:rPr lang="en-US" sz="2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5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4A9E3-882D-53F9-27BA-7914B7649FFD}"/>
              </a:ext>
            </a:extLst>
          </p:cNvPr>
          <p:cNvSpPr txBox="1"/>
          <p:nvPr/>
        </p:nvSpPr>
        <p:spPr>
          <a:xfrm>
            <a:off x="8367385" y="248037"/>
            <a:ext cx="3438699" cy="10421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Dataverse Table: Loan Application - Display Name: Loan Application 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Primary Column: Application ID (crxxx_applicationid)</a:t>
            </a:r>
            <a:endParaRPr lang="en-US" sz="1700" b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874184-4352-12A6-3CDC-A47028384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094035"/>
              </p:ext>
            </p:extLst>
          </p:nvPr>
        </p:nvGraphicFramePr>
        <p:xfrm>
          <a:off x="699713" y="1655276"/>
          <a:ext cx="10697226" cy="4785068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268809">
                  <a:extLst>
                    <a:ext uri="{9D8B030D-6E8A-4147-A177-3AD203B41FA5}">
                      <a16:colId xmlns:a16="http://schemas.microsoft.com/office/drawing/2014/main" val="3442282278"/>
                    </a:ext>
                  </a:extLst>
                </a:gridCol>
                <a:gridCol w="1322278">
                  <a:extLst>
                    <a:ext uri="{9D8B030D-6E8A-4147-A177-3AD203B41FA5}">
                      <a16:colId xmlns:a16="http://schemas.microsoft.com/office/drawing/2014/main" val="3711981439"/>
                    </a:ext>
                  </a:extLst>
                </a:gridCol>
                <a:gridCol w="1547065">
                  <a:extLst>
                    <a:ext uri="{9D8B030D-6E8A-4147-A177-3AD203B41FA5}">
                      <a16:colId xmlns:a16="http://schemas.microsoft.com/office/drawing/2014/main" val="164196964"/>
                    </a:ext>
                  </a:extLst>
                </a:gridCol>
                <a:gridCol w="5559074">
                  <a:extLst>
                    <a:ext uri="{9D8B030D-6E8A-4147-A177-3AD203B41FA5}">
                      <a16:colId xmlns:a16="http://schemas.microsoft.com/office/drawing/2014/main" val="1436882468"/>
                    </a:ext>
                  </a:extLst>
                </a:gridCol>
              </a:tblGrid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 dirty="0">
                          <a:effectLst/>
                        </a:rPr>
                        <a:t>Logical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Display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Data Type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Implementation Notes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878491738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crxxx_applicationid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ID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Autonumber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Prefixed with "APP-". Acts as the primary key.</a:t>
                      </a:r>
                      <a:endParaRPr lang="en-US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100697973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crxxx_firstname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First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Mandatory field for intake.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4292807004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crxxx_lastname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Last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Mandatory field for intake.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207176414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crxxx_loanamount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Amount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Currency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Set with validation: Min 0, Max 1,000,000.</a:t>
                      </a:r>
                      <a:endParaRPr lang="en-US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14485237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crxxx_status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Status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Local Choice: Submitted (Default), Under Review, Approved, Rejected.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898033334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crxxx_address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Address</a:t>
                      </a:r>
                      <a:endParaRPr lang="en-CA" sz="1400" b="1" dirty="0">
                        <a:effectLst/>
                      </a:endParaRP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Plain 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Multiple lines enabled to capture full address from PDF.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51950183"/>
                  </a:ext>
                </a:extLst>
              </a:tr>
              <a:tr h="111031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crxxx_loanterm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Loan Term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Options: 1 Year, 3 Years, 5 Years, 10 Years.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1149361631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crxxx_interestrate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Interest Rate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Decimal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Precision: 2; allows for values like 5.25%.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441420197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crxxx_approver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Name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Lookup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Links to the SystemUser table for internal security.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733673488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crxxx_approverpos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Approver Position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Text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Captures "Officer 1" as seen in the sample.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465536630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crxxx_appdate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Application 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Date Only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Behavioral: User Local.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962609716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crxxx_enddate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End Date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Date Only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Automated: Stamped when Status = Approved/Rejected.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3565539806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crxxx_idupload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ID Document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File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Restricted to 10MB; supports .pdf, .jpg, .png.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290003177"/>
                  </a:ext>
                </a:extLst>
              </a:tr>
              <a:tr h="3098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crxxx_docsprovided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Docs Provided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Choices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>
                          <a:effectLst/>
                        </a:rPr>
                        <a:t>Multi-select: ID, Proof of Income, Tax Returns.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4240945827"/>
                  </a:ext>
                </a:extLst>
              </a:tr>
              <a:tr h="234109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crxxx_signature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Signature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CA" sz="1400" b="1">
                          <a:effectLst/>
                        </a:rPr>
                        <a:t>Image</a:t>
                      </a:r>
                    </a:p>
                  </a:txBody>
                  <a:tcPr marL="5257" marR="5257" marT="3505" marB="3505" anchor="b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Stored as a "Primary Image" to support Pen Input controls.</a:t>
                      </a:r>
                    </a:p>
                  </a:txBody>
                  <a:tcPr marL="5257" marR="5257" marT="3505" marB="3505" anchor="b"/>
                </a:tc>
                <a:extLst>
                  <a:ext uri="{0D108BD9-81ED-4DB2-BD59-A6C34878D82A}">
                    <a16:rowId xmlns:a16="http://schemas.microsoft.com/office/drawing/2014/main" val="1542199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20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873EF-AF25-739A-C1D0-71E771BB4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2B6875F-F3A4-9DCD-0BF1-806D97115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FE7EEE-FD5B-7920-A1A6-7649F3A66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126DF8-DC00-8741-5565-95E94C15A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B70694-D258-7073-3569-2B217F54E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76E215-0D73-2888-972E-DC6592180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92" y="248038"/>
            <a:ext cx="787278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Capture: PowerApps Form(Client)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378DD6-6D8B-93CD-4C28-A7D023ACB816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DE1FA550-0FAF-DA8E-F45E-355155E633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169277"/>
              </p:ext>
            </p:extLst>
          </p:nvPr>
        </p:nvGraphicFramePr>
        <p:xfrm>
          <a:off x="838200" y="1822348"/>
          <a:ext cx="6226479" cy="4354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5" name="Content Placeholder 6">
            <a:extLst>
              <a:ext uri="{FF2B5EF4-FFF2-40B4-BE49-F238E27FC236}">
                <a16:creationId xmlns:a16="http://schemas.microsoft.com/office/drawing/2014/main" id="{2182C615-3C33-9962-45C0-27A8BEE42E1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1467" y="1929009"/>
            <a:ext cx="42503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8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AD246-F4AD-8272-559D-A17A0258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2E0E1AC-4F3E-8688-3A71-74933C0B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A43B6B-2563-47BA-5074-3F08BBF80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D91FE-670C-41DB-C969-E95F5757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F0C9BC-4BC5-9C31-7933-BBE5A0DE2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94BDB-4CC9-8853-9344-2E06CCD57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872785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 Automation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4F862-D340-6F0C-5903-E28054088B80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Automate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0EEEF3-9205-942F-8F98-EFD0946F8304}"/>
              </a:ext>
            </a:extLst>
          </p:cNvPr>
          <p:cNvSpPr txBox="1"/>
          <p:nvPr/>
        </p:nvSpPr>
        <p:spPr>
          <a:xfrm>
            <a:off x="586978" y="1798070"/>
            <a:ext cx="10786655" cy="1292662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A. Customer Validation</a:t>
            </a:r>
          </a:p>
          <a:p>
            <a:r>
              <a:rPr lang="en-US" dirty="0"/>
              <a:t>The Canvas App will use Power </a:t>
            </a:r>
            <a:r>
              <a:rPr lang="en-US" dirty="0" err="1"/>
              <a:t>Fx</a:t>
            </a:r>
            <a:r>
              <a:rPr lang="en-US" dirty="0"/>
              <a:t> to ensure no empty applications are sent: 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IsBlank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DataCardValue_Amount.Text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DisplayMode.Disabled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DisplayMode.Edit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D7488-B1B2-8E97-6854-6938CF520CE9}"/>
              </a:ext>
            </a:extLst>
          </p:cNvPr>
          <p:cNvSpPr txBox="1"/>
          <p:nvPr/>
        </p:nvSpPr>
        <p:spPr>
          <a:xfrm>
            <a:off x="586978" y="3413530"/>
            <a:ext cx="10786655" cy="129266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B. Automated Acknowledgment</a:t>
            </a:r>
          </a:p>
          <a:p>
            <a:r>
              <a:rPr lang="en-US" b="1" dirty="0"/>
              <a:t>Trigger:</a:t>
            </a:r>
            <a:r>
              <a:rPr lang="en-US" dirty="0"/>
              <a:t> Dataverse –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When a row is added.</a:t>
            </a:r>
          </a:p>
          <a:p>
            <a:r>
              <a:rPr lang="en-US" b="1" dirty="0"/>
              <a:t>Action:</a:t>
            </a:r>
            <a:r>
              <a:rPr lang="en-US" dirty="0"/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Send an email (V2).</a:t>
            </a:r>
          </a:p>
          <a:p>
            <a:r>
              <a:rPr lang="en-US" b="1" dirty="0"/>
              <a:t>Dynamic Content:</a:t>
            </a:r>
            <a:r>
              <a:rPr lang="en-US" dirty="0"/>
              <a:t> "Dear [Customer Name], your application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[App ID] </a:t>
            </a:r>
            <a:r>
              <a:rPr lang="en-US" dirty="0"/>
              <a:t>for [Amount] has been received."</a:t>
            </a: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E96AB-5D31-8896-122E-E3EB49279BA5}"/>
              </a:ext>
            </a:extLst>
          </p:cNvPr>
          <p:cNvSpPr txBox="1"/>
          <p:nvPr/>
        </p:nvSpPr>
        <p:spPr>
          <a:xfrm>
            <a:off x="586978" y="4989841"/>
            <a:ext cx="10786655" cy="129266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/>
              <a:t>C. </a:t>
            </a:r>
            <a:r>
              <a:rPr lang="en-US" sz="2400" b="1" dirty="0"/>
              <a:t>Approval Process</a:t>
            </a:r>
          </a:p>
          <a:p>
            <a:r>
              <a:rPr lang="en-US" b="1" dirty="0"/>
              <a:t>Step 1:</a:t>
            </a:r>
            <a:r>
              <a:rPr lang="en-US" dirty="0"/>
              <a:t> Application enters "Under Review" status.</a:t>
            </a:r>
          </a:p>
          <a:p>
            <a:r>
              <a:rPr lang="en-US" b="1" dirty="0"/>
              <a:t>Step 2:</a:t>
            </a:r>
            <a:r>
              <a:rPr lang="en-US" dirty="0"/>
              <a:t> Approver (D J Tram) receives a notification.</a:t>
            </a:r>
          </a:p>
          <a:p>
            <a:r>
              <a:rPr lang="en-US" b="1" dirty="0"/>
              <a:t>Step 3:</a:t>
            </a:r>
            <a:r>
              <a:rPr lang="en-US" dirty="0"/>
              <a:t> Upon Approval/Rejection, the End Date is automatically updated via the flow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7552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71513-2869-660D-6C59-1AD889369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E86E040-5E67-A837-DAC5-717EA9C3A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85C70D-3F04-05B1-B3B4-AF0F947732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7104FE-2FBC-618E-9C27-733EF468F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57F1BF-8B4B-7331-CC29-2C20AC02E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851EA3-9701-CC7A-7E6A-74E3B8775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018402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600" b="1" dirty="0">
                <a:solidFill>
                  <a:schemeClr val="bg1"/>
                </a:solidFill>
              </a:rPr>
              <a:t>Employee Review Portal (Power Pages)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9232F-8D8A-951A-7D53-24710CD31E94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Rectangle 5">
            <a:extLst>
              <a:ext uri="{FF2B5EF4-FFF2-40B4-BE49-F238E27FC236}">
                <a16:creationId xmlns:a16="http://schemas.microsoft.com/office/drawing/2014/main" id="{E9757BC1-612A-1E83-847F-105BBAF704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610265"/>
              </p:ext>
            </p:extLst>
          </p:nvPr>
        </p:nvGraphicFramePr>
        <p:xfrm>
          <a:off x="644056" y="1929009"/>
          <a:ext cx="5957159" cy="4376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360B1596-EEEF-8603-7A91-F98A7BA6AC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2919" y="1550032"/>
            <a:ext cx="3000794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6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A9E03-73E8-053F-4F8C-C73E6AED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C03704E-EF37-6294-3EA7-EA0D58B10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719CC4-3C3C-4445-CACE-AA6A1E875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FABC16-EAD2-9EE2-40BA-29B7F42E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13BE11-7D9C-17E9-39A5-D8B00F505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0768-70BD-9D84-4790-CC1514AA5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086091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FFFFFF"/>
                </a:solidFill>
              </a:rPr>
              <a:t>Loan Application Frontend Mobile Application Forms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BA474B-8A90-E2C1-BDE0-A868171574C4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EDBDF40-0E4A-1B50-C1F1-1D13DE043F7F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FF37A34-5447-9A4E-B1EB-412EF9991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0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A51D3-C266-F5AA-71E5-2CC16CB5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5170910-6031-9365-7B3C-9D8FA6BC0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EF510B-7BDC-C1C1-A511-BA7B24907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29E1B8-DE3B-206E-98AF-0AD793727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D0431E-E881-8F13-3098-50F67C41C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9C8A7-A8E7-1837-4264-688108BA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Data Integration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BA8C47-E4ED-4871-84A9-239B03D3B149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992776-2EFC-DB0F-6F71-E4F9950FCC0F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B17F3-227A-12C8-FC2A-7B6457F4B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83" y="196020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 </a:t>
            </a:r>
            <a:r>
              <a:rPr lang="en-US" dirty="0"/>
              <a:t>Import the CSV data into </a:t>
            </a:r>
            <a:r>
              <a:rPr lang="en-US" b="1" dirty="0"/>
              <a:t>Dataverse</a:t>
            </a:r>
            <a:r>
              <a:rPr lang="en-US" dirty="0"/>
              <a:t> as initial dataset.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Use Power Automate to parse PDFs for incoming applications (optional OCR for ID/Proof of Income).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527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9D7108-08AC-2293-9BA1-DC0AEB7F7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E1FA92-F31C-78F4-01CF-120A9D34F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507D6F-44F7-1941-92AB-59B2EFE1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719C43-B16F-5B9B-BE46-8502F8A7B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0801B-5A61-1F5E-EEDC-BD73FB107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4C9F30-4C92-2A0C-9DA7-69AA26BFA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Loan Application Management Dashboard   </a:t>
            </a: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FBC3DE-53B9-69E2-25B9-F2CFD90EC0D7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BI Dashboard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A51A76-C4AA-992F-5C53-9830549C32E6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C210D7-D196-4BB4-24DB-DDB1892682CD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graphicFrame>
        <p:nvGraphicFramePr>
          <p:cNvPr id="43" name="Content Placeholder 2">
            <a:extLst>
              <a:ext uri="{FF2B5EF4-FFF2-40B4-BE49-F238E27FC236}">
                <a16:creationId xmlns:a16="http://schemas.microsoft.com/office/drawing/2014/main" id="{99BFBEA9-E689-6914-0629-B8E11B5E786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9185621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093D25-D49C-914C-B108-D29B7DAF01EB}"/>
              </a:ext>
            </a:extLst>
          </p:cNvPr>
          <p:cNvSpPr txBox="1">
            <a:spLocks/>
          </p:cNvSpPr>
          <p:nvPr/>
        </p:nvSpPr>
        <p:spPr>
          <a:xfrm>
            <a:off x="6313637" y="1701321"/>
            <a:ext cx="5181600" cy="43513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bg1"/>
                </a:solidFill>
              </a:rPr>
              <a:t>Visuals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  <a:p>
            <a:r>
              <a:rPr lang="en-US" dirty="0">
                <a:solidFill>
                  <a:schemeClr val="bg1"/>
                </a:solidFill>
              </a:rPr>
              <a:t>Bar chart: applications by status.</a:t>
            </a:r>
          </a:p>
          <a:p>
            <a:r>
              <a:rPr lang="en-US" dirty="0">
                <a:solidFill>
                  <a:schemeClr val="bg1"/>
                </a:solidFill>
              </a:rPr>
              <a:t>Line chart: monthly application trends.</a:t>
            </a:r>
          </a:p>
          <a:p>
            <a:r>
              <a:rPr lang="en-US" dirty="0">
                <a:solidFill>
                  <a:schemeClr val="bg1"/>
                </a:solidFill>
              </a:rPr>
              <a:t>Pie chart: loan approval vs rejection.</a:t>
            </a:r>
          </a:p>
          <a:p>
            <a:r>
              <a:rPr lang="en-US" dirty="0">
                <a:solidFill>
                  <a:schemeClr val="bg1"/>
                </a:solidFill>
              </a:rPr>
              <a:t>Donut chart: Attachments Verification Rat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42608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B3DE4-222F-E90A-2EE3-946382A00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4B21A41-681F-FC31-5CB6-AE977208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F701B9-EDF9-5B94-6DF9-A37A7D725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5DC5DF-522D-F0CF-80FD-47908C5C8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39A84-52B8-DF17-C6E0-6DD632579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BD85D6-93A0-9D3C-0AD5-DEDCC3C7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756"/>
            <a:ext cx="7918194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KPI Summary Row (Cards Section)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172DE-88DC-7990-00DB-4198771CA9A1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DC1034-520A-DCF3-5103-72B4DD679ADE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0A14CA-B55E-90F5-7776-D804290ADA7B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A45AB40-BA1E-F770-82A4-552F4C2174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4324053"/>
              </p:ext>
            </p:extLst>
          </p:nvPr>
        </p:nvGraphicFramePr>
        <p:xfrm>
          <a:off x="838200" y="1966671"/>
          <a:ext cx="10515600" cy="329184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433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489734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2978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DAX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9301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Total Applications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of all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COUNT(Application ID)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1540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Approved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where Status = Approved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Status="Approved")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713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Rejected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Count where Status = Rejected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Status="Rejected")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065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Under Review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Count where Status = Under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CALCULATE(COUNT(ID), Status="Under Review")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837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/>
                        <a:t>Avg Processing Time (Days)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End Date – Application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AVERAGE(DATEDIFF(Application Date, End Date, DAY))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922106"/>
                  </a:ext>
                </a:extLst>
              </a:tr>
            </a:tbl>
          </a:graphicData>
        </a:graphic>
      </p:graphicFrame>
      <p:sp>
        <p:nvSpPr>
          <p:cNvPr id="10" name="Rectangle 2">
            <a:extLst>
              <a:ext uri="{FF2B5EF4-FFF2-40B4-BE49-F238E27FC236}">
                <a16:creationId xmlns:a16="http://schemas.microsoft.com/office/drawing/2014/main" id="{643EBAA9-172A-7B2E-313E-D6AA387B5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0520" y="-1072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 KPI Summary Row (Cards Section)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Place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KPI cards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horizontally across the top: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7764A1-42B1-F34B-E857-3F1622CC01DC}"/>
              </a:ext>
            </a:extLst>
          </p:cNvPr>
          <p:cNvSpPr txBox="1"/>
          <p:nvPr/>
        </p:nvSpPr>
        <p:spPr>
          <a:xfrm>
            <a:off x="8720992" y="596805"/>
            <a:ext cx="35848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Power BI Executive 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AFF2B0-64E3-464C-1ECD-00E4D2A1B129}"/>
              </a:ext>
            </a:extLst>
          </p:cNvPr>
          <p:cNvSpPr txBox="1"/>
          <p:nvPr/>
        </p:nvSpPr>
        <p:spPr>
          <a:xfrm>
            <a:off x="1390388" y="5477689"/>
            <a:ext cx="10551091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Design Tip:</a:t>
            </a:r>
          </a:p>
          <a:p>
            <a:r>
              <a:rPr lang="en-US" b="1" dirty="0">
                <a:solidFill>
                  <a:srgbClr val="4DC781"/>
                </a:solidFill>
              </a:rPr>
              <a:t>Use green for Approved  </a:t>
            </a:r>
            <a:r>
              <a:rPr lang="en-US" sz="2000" b="1" dirty="0">
                <a:solidFill>
                  <a:srgbClr val="FF0000"/>
                </a:solidFill>
              </a:rPr>
              <a:t>Red for Rejected  </a:t>
            </a:r>
            <a:r>
              <a:rPr lang="en-US" b="1" dirty="0">
                <a:solidFill>
                  <a:srgbClr val="FFC000"/>
                </a:solidFill>
              </a:rPr>
              <a:t>Orange for Under Review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Neutral blue for totals</a:t>
            </a:r>
            <a:endParaRPr lang="en-CA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8726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D5D44C-49B5-6DEB-5ECF-7626CC03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5CD9CE7-C064-32E3-6A46-E8EA7114E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EFD20E-B771-BEF2-38CD-D13B40F3F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8C7F63-0BC6-0491-7AC5-AC83E05D1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09CD92-242E-1F4B-36F6-52534CA02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070B4F-F7B6-F89A-AF98-C0541396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Dashboard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F8745-7FA5-6362-741C-B0712632EFBD}"/>
              </a:ext>
            </a:extLst>
          </p:cNvPr>
          <p:cNvSpPr txBox="1"/>
          <p:nvPr/>
        </p:nvSpPr>
        <p:spPr>
          <a:xfrm>
            <a:off x="8356601" y="390832"/>
            <a:ext cx="3449484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CA" sz="2800" dirty="0">
                <a:solidFill>
                  <a:schemeClr val="bg1"/>
                </a:solidFill>
              </a:rPr>
              <a:t>Power BI Dashboard</a:t>
            </a: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8B6576-9610-008A-048C-2EEF96A6FAEB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880E1B-C1F4-4EA2-E383-01BDB451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678" y="1798070"/>
            <a:ext cx="7065876" cy="43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54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5B967C-1B5A-5699-EA3C-5B12E8903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26807D7-B894-1817-7A97-CB4B733C8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E74A7D6-1AC9-32E5-B825-9E1FCBF25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22A1C4-2060-FE80-8FE3-255DF5273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CC581F-5FF0-287C-2E58-767AE37B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5B781F-6CAF-5F25-D56C-B400571E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Workflow Summary</a:t>
            </a:r>
            <a:br>
              <a:rPr lang="en-US" sz="3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6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4244C3-5C92-65FE-7E2B-49B646080A8B}"/>
              </a:ext>
            </a:extLst>
          </p:cNvPr>
          <p:cNvSpPr txBox="1"/>
          <p:nvPr/>
        </p:nvSpPr>
        <p:spPr>
          <a:xfrm>
            <a:off x="3018376" y="1729370"/>
            <a:ext cx="8983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AE62BF7-6E19-9D3B-EC86-A5F37BCFB0CA}"/>
              </a:ext>
            </a:extLst>
          </p:cNvPr>
          <p:cNvSpPr txBox="1"/>
          <p:nvPr/>
        </p:nvSpPr>
        <p:spPr>
          <a:xfrm>
            <a:off x="544363" y="5570023"/>
            <a:ext cx="1062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70%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2EA79D-D89E-EA20-E0C9-B830679B5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283" y="1960202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Customer submits application via </a:t>
            </a:r>
            <a:r>
              <a:rPr lang="en-US" b="1" dirty="0"/>
              <a:t>Power Apps form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System validates required fields.</a:t>
            </a:r>
          </a:p>
          <a:p>
            <a:pPr>
              <a:buFont typeface="+mj-lt"/>
              <a:buAutoNum type="arabicPeriod"/>
            </a:pPr>
            <a:r>
              <a:rPr lang="en-US" dirty="0"/>
              <a:t>Automatic </a:t>
            </a:r>
            <a:r>
              <a:rPr lang="en-US" b="1" dirty="0"/>
              <a:t>acknowledgment email</a:t>
            </a:r>
            <a:r>
              <a:rPr lang="en-US" dirty="0"/>
              <a:t> is sent.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 enters </a:t>
            </a:r>
            <a:r>
              <a:rPr lang="en-US" b="1" dirty="0"/>
              <a:t>Pending Approval</a:t>
            </a:r>
            <a:r>
              <a:rPr lang="en-US" dirty="0"/>
              <a:t> queue in portal.</a:t>
            </a:r>
          </a:p>
          <a:p>
            <a:pPr>
              <a:buFont typeface="+mj-lt"/>
              <a:buAutoNum type="arabicPeriod"/>
            </a:pPr>
            <a:r>
              <a:rPr lang="en-US" dirty="0"/>
              <a:t>Bank employee approves/rejects in portal.</a:t>
            </a:r>
          </a:p>
          <a:p>
            <a:pPr>
              <a:buFont typeface="+mj-lt"/>
              <a:buAutoNum type="arabicPeriod"/>
            </a:pPr>
            <a:r>
              <a:rPr lang="en-US" dirty="0"/>
              <a:t>Application status updated, final email sent to customer.</a:t>
            </a:r>
          </a:p>
          <a:p>
            <a:pPr>
              <a:buFont typeface="+mj-lt"/>
              <a:buAutoNum type="arabicPeriod"/>
            </a:pPr>
            <a:r>
              <a:rPr lang="en-US" dirty="0"/>
              <a:t>Dashboard automatically updates metrics.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52196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2CBA1A-A2ED-BA18-A043-F635C4B7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97DD1F-C798-7A5A-47D6-38FF51B51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Final Assumptions</a:t>
            </a:r>
            <a:br>
              <a:rPr lang="en-US" sz="3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b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8D2D3A-167C-12D8-6370-8BCCA277A87E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179EB67B-D99A-BC3A-1428-2384308CD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47662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30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BE347-5717-FFE4-E6FF-D774B16E0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F202B5C-0D18-BAC9-3D12-984F3150F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1C2742-318F-6CAA-E85B-A9FF5D921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2E6E3E-A633-AE4A-0A32-6CE4921C9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E51E18-7E2D-0CA1-AE0D-39F5C67BC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7DD10-E95B-CB8F-CEC9-8E9C7D30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Optional Enhancements</a:t>
            </a:r>
            <a:b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4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EEDC6-F8F9-A85F-8A5A-35A5C75281ED}"/>
              </a:ext>
            </a:extLst>
          </p:cNvPr>
          <p:cNvSpPr txBox="1"/>
          <p:nvPr/>
        </p:nvSpPr>
        <p:spPr>
          <a:xfrm>
            <a:off x="8572499" y="390832"/>
            <a:ext cx="3233585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8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DC853F9D-8CD7-2E6B-6622-E20D5DACD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02925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1551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1623</Words>
  <Application>Microsoft Office PowerPoint</Application>
  <PresentationFormat>Widescreen</PresentationFormat>
  <Paragraphs>268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Wingdings</vt:lpstr>
      <vt:lpstr>Office Theme</vt:lpstr>
      <vt:lpstr>Loan Application Digitization Solution </vt:lpstr>
      <vt:lpstr> Proposed Power Platform Solution   </vt:lpstr>
      <vt:lpstr> System Architecture </vt:lpstr>
      <vt:lpstr>Data Sources Data Gap Analysis &amp; Schema Alignment </vt:lpstr>
      <vt:lpstr>Dataverse Table Schema </vt:lpstr>
      <vt:lpstr> Data Capture: PowerApps Form(Client) </vt:lpstr>
      <vt:lpstr> Workflow Automation </vt:lpstr>
      <vt:lpstr> Employee Review Portal (Power Pages) </vt:lpstr>
      <vt:lpstr> Loan Application Frontend Mobile Application Forms</vt:lpstr>
      <vt:lpstr>  Data Integration</vt:lpstr>
      <vt:lpstr>Loan Application Management Dashboard   </vt:lpstr>
      <vt:lpstr>Top KPI Summary Row (Cards Section)</vt:lpstr>
      <vt:lpstr>Sample Dashboard  </vt:lpstr>
      <vt:lpstr>Workflow Summary </vt:lpstr>
      <vt:lpstr> Final Assumptions </vt:lpstr>
      <vt:lpstr> Optional Enhancements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Atsu Vovor</dc:creator>
  <cp:lastModifiedBy>Atsu Vovor</cp:lastModifiedBy>
  <cp:revision>3</cp:revision>
  <dcterms:created xsi:type="dcterms:W3CDTF">2026-02-26T04:18:32Z</dcterms:created>
  <dcterms:modified xsi:type="dcterms:W3CDTF">2026-06-20T03:53:37Z</dcterms:modified>
</cp:coreProperties>
</file>